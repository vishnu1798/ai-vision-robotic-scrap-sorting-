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9" r:id="rId3"/>
    <p:sldId id="270" r:id="rId4"/>
    <p:sldId id="257" r:id="rId5"/>
    <p:sldId id="258" r:id="rId6"/>
    <p:sldId id="261" r:id="rId7"/>
    <p:sldId id="271" r:id="rId8"/>
    <p:sldId id="272" r:id="rId9"/>
    <p:sldId id="273" r:id="rId10"/>
    <p:sldId id="262" r:id="rId11"/>
    <p:sldId id="274" r:id="rId12"/>
    <p:sldId id="277" r:id="rId13"/>
    <p:sldId id="275" r:id="rId14"/>
    <p:sldId id="276" r:id="rId15"/>
    <p:sldId id="265" r:id="rId16"/>
    <p:sldId id="267"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0C51C1-E4BD-4ACD-B211-1D9BC33AD050}" v="11" dt="2026-01-19T16:36:13.152"/>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3/7/2026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3/7/2026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3/7/2026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2224" y="713232"/>
            <a:ext cx="8875776" cy="2825496"/>
          </a:xfrm>
        </p:spPr>
        <p:txBody>
          <a:bodyPr/>
          <a:lstStyle/>
          <a:p>
            <a:r>
              <a:rPr lang="en-US" sz="4400" b="1" dirty="0">
                <a:solidFill>
                  <a:srgbClr val="1F1F1F"/>
                </a:solidFill>
                <a:highlight>
                  <a:srgbClr val="FFFFFF"/>
                </a:highlight>
                <a:ea typeface="+mj-lt"/>
                <a:cs typeface="+mj-lt"/>
              </a:rPr>
              <a:t> Title</a:t>
            </a:r>
            <a:r>
              <a:rPr lang="en-US" sz="3600" b="1" dirty="0">
                <a:solidFill>
                  <a:srgbClr val="1F1F1F"/>
                </a:solidFill>
                <a:highlight>
                  <a:srgbClr val="FFFFFF"/>
                </a:highlight>
                <a:ea typeface="+mj-lt"/>
                <a:cs typeface="+mj-lt"/>
              </a:rPr>
              <a:t>: </a:t>
            </a:r>
            <a:r>
              <a:rPr lang="en-US" sz="3600" b="1" dirty="0">
                <a:highlight>
                  <a:srgbClr val="FFFFFF"/>
                </a:highlight>
              </a:rPr>
              <a:t>Autonomous Robotic</a:t>
            </a:r>
            <a:br>
              <a:rPr lang="en-US" sz="3600" b="1" dirty="0">
                <a:highlight>
                  <a:srgbClr val="FFFFFF"/>
                </a:highlight>
              </a:rPr>
            </a:br>
            <a:r>
              <a:rPr lang="en-US" sz="3600" b="1" dirty="0">
                <a:highlight>
                  <a:srgbClr val="FFFFFF"/>
                </a:highlight>
              </a:rPr>
              <a:t>Scrap Sorting System</a:t>
            </a:r>
            <a:br>
              <a:rPr lang="en-US" b="1" dirty="0">
                <a:highlight>
                  <a:srgbClr val="FFFFFF"/>
                </a:highlight>
              </a:rPr>
            </a:br>
            <a:endParaRPr lang="en-US" sz="3600" b="1" dirty="0"/>
          </a:p>
          <a:p>
            <a:endParaRPr lang="en-US" b="1" dirty="0"/>
          </a:p>
        </p:txBody>
      </p:sp>
      <p:sp>
        <p:nvSpPr>
          <p:cNvPr id="3" name="Subtitle 2"/>
          <p:cNvSpPr>
            <a:spLocks noGrp="1"/>
          </p:cNvSpPr>
          <p:nvPr>
            <p:ph type="subTitle" idx="1"/>
          </p:nvPr>
        </p:nvSpPr>
        <p:spPr>
          <a:xfrm>
            <a:off x="1658112" y="3429000"/>
            <a:ext cx="9144000" cy="1843787"/>
          </a:xfrm>
        </p:spPr>
        <p:txBody>
          <a:bodyPr vert="horz" lIns="91440" tIns="45720" rIns="91440" bIns="45720" rtlCol="0" anchor="t">
            <a:normAutofit fontScale="77500" lnSpcReduction="20000"/>
          </a:bodyPr>
          <a:lstStyle/>
          <a:p>
            <a:r>
              <a:rPr lang="en-US" sz="2800" dirty="0"/>
              <a:t>Team members:</a:t>
            </a:r>
          </a:p>
          <a:p>
            <a:r>
              <a:rPr lang="en-US" sz="2800" dirty="0"/>
              <a:t>     AAKASH GS:CB.SC.U4AIE24101</a:t>
            </a:r>
          </a:p>
          <a:p>
            <a:r>
              <a:rPr lang="en-US" sz="2800" dirty="0"/>
              <a:t>VIGNESH:CB.SC.U4AIE24124</a:t>
            </a:r>
          </a:p>
          <a:p>
            <a:r>
              <a:rPr lang="en-US" sz="2800" dirty="0"/>
              <a:t>            M.VISHNU TEJA:CB.SC.U4AIE24130</a:t>
            </a:r>
          </a:p>
          <a:p>
            <a:r>
              <a:rPr lang="en-US" sz="2800" dirty="0"/>
              <a:t>  M.RAKESH:CB.SC.U4AIE24134</a:t>
            </a:r>
          </a:p>
        </p:txBody>
      </p:sp>
    </p:spTree>
    <p:extLst>
      <p:ext uri="{BB962C8B-B14F-4D97-AF65-F5344CB8AC3E}">
        <p14:creationId xmlns:p14="http://schemas.microsoft.com/office/powerpoint/2010/main" val="1098572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68F87-A56E-B367-469E-B7AEC2AB6A4D}"/>
              </a:ext>
            </a:extLst>
          </p:cNvPr>
          <p:cNvSpPr>
            <a:spLocks noGrp="1"/>
          </p:cNvSpPr>
          <p:nvPr>
            <p:ph type="title"/>
          </p:nvPr>
        </p:nvSpPr>
        <p:spPr>
          <a:xfrm>
            <a:off x="838200" y="406182"/>
            <a:ext cx="10515600" cy="1325563"/>
          </a:xfrm>
        </p:spPr>
        <p:txBody>
          <a:bodyPr/>
          <a:lstStyle/>
          <a:p>
            <a:r>
              <a:rPr lang="en-US" b="1" dirty="0"/>
              <a:t>INTRODUCTION</a:t>
            </a:r>
            <a:endParaRPr lang="en-IN" b="1" dirty="0"/>
          </a:p>
        </p:txBody>
      </p:sp>
      <p:sp>
        <p:nvSpPr>
          <p:cNvPr id="9" name="TextBox 8">
            <a:extLst>
              <a:ext uri="{FF2B5EF4-FFF2-40B4-BE49-F238E27FC236}">
                <a16:creationId xmlns:a16="http://schemas.microsoft.com/office/drawing/2014/main" id="{AABF9FD0-C253-1944-BD06-0C4C1E878D24}"/>
              </a:ext>
            </a:extLst>
          </p:cNvPr>
          <p:cNvSpPr txBox="1"/>
          <p:nvPr/>
        </p:nvSpPr>
        <p:spPr>
          <a:xfrm>
            <a:off x="812240" y="2021548"/>
            <a:ext cx="9662327" cy="1261884"/>
          </a:xfrm>
          <a:prstGeom prst="rect">
            <a:avLst/>
          </a:prstGeom>
          <a:noFill/>
        </p:spPr>
        <p:txBody>
          <a:bodyPr wrap="square">
            <a:spAutoFit/>
          </a:bodyPr>
          <a:lstStyle/>
          <a:p>
            <a:pPr marL="285750" indent="-285750">
              <a:spcBef>
                <a:spcPts val="600"/>
              </a:spcBef>
              <a:spcAft>
                <a:spcPts val="600"/>
              </a:spcAft>
              <a:buFont typeface="Wingdings" panose="05000000000000000000" pitchFamily="2" charset="2"/>
              <a:buChar char="Ø"/>
            </a:pPr>
            <a:r>
              <a:rPr lang="en-IN" sz="2400" b="1" dirty="0"/>
              <a:t>Core Concept:</a:t>
            </a:r>
            <a:r>
              <a:rPr lang="en-IN" sz="2400" dirty="0"/>
              <a:t> Autonomous hazardous waste management requires </a:t>
            </a:r>
            <a:r>
              <a:rPr lang="en-IN" sz="2400" b="1" dirty="0"/>
              <a:t>Perception + Decision + Safe Actuation</a:t>
            </a:r>
            <a:r>
              <a:rPr lang="en-IN" sz="2400" dirty="0"/>
              <a:t>.</a:t>
            </a:r>
          </a:p>
          <a:p>
            <a:pPr algn="l">
              <a:spcBef>
                <a:spcPts val="600"/>
              </a:spcBef>
              <a:spcAft>
                <a:spcPts val="600"/>
              </a:spcAft>
              <a:buFont typeface="Arial" panose="020B0604020202020204" pitchFamily="34" charset="0"/>
              <a:buChar char="•"/>
            </a:pPr>
            <a:endParaRPr lang="en-IN" b="0" i="0" dirty="0">
              <a:solidFill>
                <a:srgbClr val="E3E3E3"/>
              </a:solidFill>
              <a:effectLst/>
              <a:latin typeface="Google Sans Flex"/>
            </a:endParaRPr>
          </a:p>
        </p:txBody>
      </p:sp>
      <p:sp>
        <p:nvSpPr>
          <p:cNvPr id="11" name="TextBox 10">
            <a:extLst>
              <a:ext uri="{FF2B5EF4-FFF2-40B4-BE49-F238E27FC236}">
                <a16:creationId xmlns:a16="http://schemas.microsoft.com/office/drawing/2014/main" id="{757B692B-DE8D-195F-0882-F17BB424443C}"/>
              </a:ext>
            </a:extLst>
          </p:cNvPr>
          <p:cNvSpPr txBox="1"/>
          <p:nvPr/>
        </p:nvSpPr>
        <p:spPr>
          <a:xfrm>
            <a:off x="812240" y="4254452"/>
            <a:ext cx="10084359" cy="1923604"/>
          </a:xfrm>
          <a:prstGeom prst="rect">
            <a:avLst/>
          </a:prstGeom>
          <a:noFill/>
        </p:spPr>
        <p:txBody>
          <a:bodyPr wrap="square">
            <a:spAutoFit/>
          </a:bodyPr>
          <a:lstStyle/>
          <a:p>
            <a:pPr marL="285750" indent="-285750">
              <a:buFont typeface="Wingdings" panose="05000000000000000000" pitchFamily="2" charset="2"/>
              <a:buChar char="Ø"/>
            </a:pPr>
            <a:r>
              <a:rPr lang="en-IN" sz="2400" b="1" dirty="0"/>
              <a:t>Project Integration:</a:t>
            </a:r>
            <a:endParaRPr lang="en-IN" sz="2400" dirty="0"/>
          </a:p>
          <a:p>
            <a:r>
              <a:rPr lang="en-IN" sz="2400" b="1" dirty="0"/>
              <a:t>        Perception:</a:t>
            </a:r>
            <a:r>
              <a:rPr lang="en-IN" sz="2400" dirty="0"/>
              <a:t> Camera-based object detection (OpenCV/ML).</a:t>
            </a:r>
          </a:p>
          <a:p>
            <a:r>
              <a:rPr lang="en-IN" sz="2400" b="1" dirty="0"/>
              <a:t>        Processing:</a:t>
            </a:r>
            <a:r>
              <a:rPr lang="en-IN" sz="2400" dirty="0"/>
              <a:t> Raspberry Pi 4 (Embedded Computing).</a:t>
            </a:r>
          </a:p>
          <a:p>
            <a:r>
              <a:rPr lang="en-IN" sz="2400" b="1" dirty="0"/>
              <a:t>        Manipulation:</a:t>
            </a:r>
            <a:r>
              <a:rPr lang="en-IN" sz="2400" dirty="0"/>
              <a:t> 3-DOF Robotic Arm with Electromagnetic End-Effector</a:t>
            </a:r>
          </a:p>
          <a:p>
            <a:pPr algn="l">
              <a:spcBef>
                <a:spcPts val="600"/>
              </a:spcBef>
              <a:spcAft>
                <a:spcPts val="600"/>
              </a:spcAft>
              <a:buFont typeface="Arial" panose="020B0604020202020204" pitchFamily="34" charset="0"/>
              <a:buChar char="•"/>
            </a:pPr>
            <a:endParaRPr lang="en-US" b="0" i="0" dirty="0">
              <a:solidFill>
                <a:srgbClr val="E3E3E3"/>
              </a:solidFill>
              <a:effectLst/>
              <a:latin typeface="Google Sans Flex"/>
            </a:endParaRPr>
          </a:p>
        </p:txBody>
      </p:sp>
      <p:sp>
        <p:nvSpPr>
          <p:cNvPr id="13" name="TextBox 12">
            <a:extLst>
              <a:ext uri="{FF2B5EF4-FFF2-40B4-BE49-F238E27FC236}">
                <a16:creationId xmlns:a16="http://schemas.microsoft.com/office/drawing/2014/main" id="{77F2FB31-C267-B5D1-8A87-791E31235668}"/>
              </a:ext>
            </a:extLst>
          </p:cNvPr>
          <p:cNvSpPr txBox="1"/>
          <p:nvPr/>
        </p:nvSpPr>
        <p:spPr>
          <a:xfrm>
            <a:off x="812240" y="2992568"/>
            <a:ext cx="9421168" cy="1200329"/>
          </a:xfrm>
          <a:prstGeom prst="rect">
            <a:avLst/>
          </a:prstGeom>
          <a:noFill/>
        </p:spPr>
        <p:txBody>
          <a:bodyPr wrap="square">
            <a:spAutoFit/>
          </a:bodyPr>
          <a:lstStyle/>
          <a:p>
            <a:pPr marL="285750" indent="-285750">
              <a:spcBef>
                <a:spcPts val="600"/>
              </a:spcBef>
              <a:spcAft>
                <a:spcPts val="600"/>
              </a:spcAft>
              <a:buFont typeface="Wingdings" panose="05000000000000000000" pitchFamily="2" charset="2"/>
              <a:buChar char="Ø"/>
            </a:pPr>
            <a:r>
              <a:rPr lang="en-US" sz="2400" b="1" dirty="0"/>
              <a:t>Motivation:</a:t>
            </a:r>
            <a:r>
              <a:rPr lang="en-US" sz="2400" dirty="0"/>
              <a:t> Manual segregation of sharp ferrous waste (scrap) is dangerous and inefficient. Vision-based classification improves safety and autonomy in robotic systems.</a:t>
            </a:r>
          </a:p>
        </p:txBody>
      </p:sp>
    </p:spTree>
    <p:extLst>
      <p:ext uri="{BB962C8B-B14F-4D97-AF65-F5344CB8AC3E}">
        <p14:creationId xmlns:p14="http://schemas.microsoft.com/office/powerpoint/2010/main" val="1434482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30A96-C2C5-D235-0C45-6BDF59FF6EEE}"/>
              </a:ext>
            </a:extLst>
          </p:cNvPr>
          <p:cNvSpPr>
            <a:spLocks noGrp="1"/>
          </p:cNvSpPr>
          <p:nvPr>
            <p:ph type="title"/>
          </p:nvPr>
        </p:nvSpPr>
        <p:spPr/>
        <p:txBody>
          <a:bodyPr/>
          <a:lstStyle/>
          <a:p>
            <a:r>
              <a:rPr lang="en-US" b="1" dirty="0"/>
              <a:t>PROBLEM STATEMENT</a:t>
            </a:r>
            <a:endParaRPr lang="en-IN" b="1" dirty="0"/>
          </a:p>
        </p:txBody>
      </p:sp>
      <p:sp>
        <p:nvSpPr>
          <p:cNvPr id="5" name="TextBox 4">
            <a:extLst>
              <a:ext uri="{FF2B5EF4-FFF2-40B4-BE49-F238E27FC236}">
                <a16:creationId xmlns:a16="http://schemas.microsoft.com/office/drawing/2014/main" id="{0A7F89E3-093F-038A-BC3C-4039B5355348}"/>
              </a:ext>
            </a:extLst>
          </p:cNvPr>
          <p:cNvSpPr txBox="1"/>
          <p:nvPr/>
        </p:nvSpPr>
        <p:spPr>
          <a:xfrm>
            <a:off x="838199" y="1690688"/>
            <a:ext cx="9933633" cy="3785652"/>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Current Issue:</a:t>
            </a:r>
            <a:r>
              <a:rPr kumimoji="0" lang="en-US" altLang="en-US" sz="2400" b="0" i="0" u="none" strike="noStrike" cap="none" normalizeH="0" baseline="0" dirty="0">
                <a:ln>
                  <a:noFill/>
                </a:ln>
                <a:solidFill>
                  <a:schemeClr val="tx1"/>
                </a:solidFill>
                <a:effectLst/>
                <a:latin typeface="Google Sans Text"/>
              </a:rPr>
              <a:t> Manual sorting of hazardous waste (sharp metals, rusty iron) poses health risks to workers (tetanus, cuts).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solidFill>
                <a:schemeClr val="tx1"/>
              </a:solidFill>
              <a:effectLst/>
              <a:latin typeface="Google Sans Tex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Limitation:</a:t>
            </a:r>
            <a:r>
              <a:rPr kumimoji="0" lang="en-US" altLang="en-US" sz="2400" b="0" i="0" u="none" strike="noStrike" cap="none" normalizeH="0" baseline="0" dirty="0">
                <a:ln>
                  <a:noFill/>
                </a:ln>
                <a:solidFill>
                  <a:schemeClr val="tx1"/>
                </a:solidFill>
                <a:effectLst/>
                <a:latin typeface="Google Sans Text"/>
              </a:rPr>
              <a:t> Simple blind robots cannot distinguish between valuable ferrous scrap and general waste.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solidFill>
                <a:schemeClr val="tx1"/>
              </a:solidFill>
              <a:effectLst/>
              <a:latin typeface="Google Sans Tex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Proposed Solution:</a:t>
            </a:r>
            <a:r>
              <a:rPr kumimoji="0" lang="en-US" altLang="en-US" sz="2400" b="0" i="0" u="none" strike="noStrike" cap="none" normalizeH="0" baseline="0" dirty="0">
                <a:ln>
                  <a:noFill/>
                </a:ln>
                <a:solidFill>
                  <a:schemeClr val="tx1"/>
                </a:solidFill>
                <a:effectLst/>
                <a:latin typeface="Google Sans Text"/>
              </a:rPr>
              <a:t> A vision-driven robotic system that:</a:t>
            </a:r>
          </a:p>
          <a:p>
            <a:pPr marL="8001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Identifies</a:t>
            </a:r>
            <a:r>
              <a:rPr kumimoji="0" lang="en-US" altLang="en-US" sz="2400" b="0" i="0" u="none" strike="noStrike" cap="none" normalizeH="0" baseline="0" dirty="0">
                <a:ln>
                  <a:noFill/>
                </a:ln>
                <a:solidFill>
                  <a:schemeClr val="tx1"/>
                </a:solidFill>
                <a:effectLst/>
                <a:latin typeface="Google Sans Text"/>
              </a:rPr>
              <a:t> ferrous objects using Computer Vision.</a:t>
            </a:r>
          </a:p>
          <a:p>
            <a:pPr marL="8001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Locates</a:t>
            </a:r>
            <a:r>
              <a:rPr kumimoji="0" lang="en-US" altLang="en-US" sz="2400" b="0" i="0" u="none" strike="noStrike" cap="none" normalizeH="0" baseline="0" dirty="0">
                <a:ln>
                  <a:noFill/>
                </a:ln>
                <a:solidFill>
                  <a:schemeClr val="tx1"/>
                </a:solidFill>
                <a:effectLst/>
                <a:latin typeface="Google Sans Text"/>
              </a:rPr>
              <a:t> their precise coordinates (x, y, z).</a:t>
            </a:r>
          </a:p>
          <a:p>
            <a:pPr marL="8001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Segregates</a:t>
            </a:r>
            <a:r>
              <a:rPr kumimoji="0" lang="en-US" altLang="en-US" sz="2400" b="0" i="0" u="none" strike="noStrike" cap="none" normalizeH="0" baseline="0" dirty="0">
                <a:ln>
                  <a:noFill/>
                </a:ln>
                <a:solidFill>
                  <a:schemeClr val="tx1"/>
                </a:solidFill>
                <a:effectLst/>
                <a:latin typeface="Google Sans Text"/>
              </a:rPr>
              <a:t> them safely using contactless magnetic lifting.</a:t>
            </a:r>
          </a:p>
        </p:txBody>
      </p:sp>
    </p:spTree>
    <p:extLst>
      <p:ext uri="{BB962C8B-B14F-4D97-AF65-F5344CB8AC3E}">
        <p14:creationId xmlns:p14="http://schemas.microsoft.com/office/powerpoint/2010/main" val="1794777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2A63A-1C40-08B7-5245-56E568CCA677}"/>
              </a:ext>
            </a:extLst>
          </p:cNvPr>
          <p:cNvSpPr>
            <a:spLocks noGrp="1"/>
          </p:cNvSpPr>
          <p:nvPr>
            <p:ph type="title"/>
          </p:nvPr>
        </p:nvSpPr>
        <p:spPr/>
        <p:txBody>
          <a:bodyPr/>
          <a:lstStyle/>
          <a:p>
            <a:r>
              <a:rPr lang="en-US" b="1"/>
              <a:t>Objective Of The Project</a:t>
            </a:r>
          </a:p>
        </p:txBody>
      </p:sp>
      <p:sp>
        <p:nvSpPr>
          <p:cNvPr id="3" name="TextBox 2">
            <a:extLst>
              <a:ext uri="{FF2B5EF4-FFF2-40B4-BE49-F238E27FC236}">
                <a16:creationId xmlns:a16="http://schemas.microsoft.com/office/drawing/2014/main" id="{215CD569-43B5-564A-70CC-A26F8F7C6DF8}"/>
              </a:ext>
            </a:extLst>
          </p:cNvPr>
          <p:cNvSpPr txBox="1"/>
          <p:nvPr/>
        </p:nvSpPr>
        <p:spPr>
          <a:xfrm>
            <a:off x="841169" y="1687286"/>
            <a:ext cx="9816935"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panose="05000000000000000000" pitchFamily="2" charset="2"/>
              <a:buChar char="Ø"/>
            </a:pPr>
            <a:r>
              <a:rPr lang="en-IN" sz="2400" dirty="0"/>
              <a:t>Design a Vision-Based Object Detection System to identify metal scrap.</a:t>
            </a:r>
          </a:p>
          <a:p>
            <a:pPr marL="342900" indent="-342900">
              <a:buFont typeface="Wingdings" panose="05000000000000000000" pitchFamily="2" charset="2"/>
              <a:buChar char="Ø"/>
            </a:pPr>
            <a:endParaRPr lang="en-IN" sz="2400" dirty="0"/>
          </a:p>
          <a:p>
            <a:pPr marL="342900" indent="-342900">
              <a:buFont typeface="Wingdings" panose="05000000000000000000" pitchFamily="2" charset="2"/>
              <a:buChar char="Ø"/>
            </a:pPr>
            <a:r>
              <a:rPr lang="en-IN" sz="2400" dirty="0"/>
              <a:t>Integrate Raspberry Pi control with PCA9685 for precise servo actuation.</a:t>
            </a:r>
          </a:p>
          <a:p>
            <a:pPr marL="342900" indent="-342900">
              <a:buFont typeface="Wingdings" panose="05000000000000000000" pitchFamily="2" charset="2"/>
              <a:buChar char="Ø"/>
            </a:pPr>
            <a:endParaRPr lang="en-IN" sz="2400" dirty="0"/>
          </a:p>
          <a:p>
            <a:pPr marL="342900" indent="-342900">
              <a:buFont typeface="Wingdings" panose="05000000000000000000" pitchFamily="2" charset="2"/>
              <a:buChar char="Ø"/>
            </a:pPr>
            <a:r>
              <a:rPr lang="en-IN" sz="2400" dirty="0"/>
              <a:t>Implement Inverse Kinematics (IK) for autonomous positioning.</a:t>
            </a:r>
          </a:p>
          <a:p>
            <a:pPr marL="342900" indent="-342900">
              <a:buFont typeface="Wingdings" panose="05000000000000000000" pitchFamily="2" charset="2"/>
              <a:buChar char="Ø"/>
            </a:pPr>
            <a:endParaRPr lang="en-IN" sz="2400" dirty="0"/>
          </a:p>
          <a:p>
            <a:pPr marL="342900" indent="-342900">
              <a:buFont typeface="Wingdings" panose="05000000000000000000" pitchFamily="2" charset="2"/>
              <a:buChar char="Ø"/>
            </a:pPr>
            <a:r>
              <a:rPr lang="en-IN" sz="2400" dirty="0"/>
              <a:t>Achieve Contactless Pick-and-Place using an electromagnetic end-effector.</a:t>
            </a:r>
          </a:p>
          <a:p>
            <a:pPr marL="342900" indent="-342900">
              <a:buFont typeface="Wingdings" panose="05000000000000000000" pitchFamily="2" charset="2"/>
              <a:buChar char="Ø"/>
            </a:pPr>
            <a:endParaRPr lang="en-IN" sz="2400" dirty="0"/>
          </a:p>
          <a:p>
            <a:pPr marL="342900" indent="-342900">
              <a:buFont typeface="Wingdings" panose="05000000000000000000" pitchFamily="2" charset="2"/>
              <a:buChar char="Ø"/>
            </a:pPr>
            <a:r>
              <a:rPr lang="en-IN" sz="2400" dirty="0"/>
              <a:t>Build a robust Hardware Proof-of-Concept using a 3-DOF manipulator.</a:t>
            </a:r>
          </a:p>
          <a:p>
            <a:br>
              <a:rPr lang="en-IN" sz="2400" dirty="0"/>
            </a:br>
            <a:endParaRPr lang="en-US" sz="2400" dirty="0"/>
          </a:p>
        </p:txBody>
      </p:sp>
    </p:spTree>
    <p:extLst>
      <p:ext uri="{BB962C8B-B14F-4D97-AF65-F5344CB8AC3E}">
        <p14:creationId xmlns:p14="http://schemas.microsoft.com/office/powerpoint/2010/main" val="1106653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BF718-3129-FEB2-D353-7297F496E918}"/>
              </a:ext>
            </a:extLst>
          </p:cNvPr>
          <p:cNvSpPr>
            <a:spLocks noGrp="1"/>
          </p:cNvSpPr>
          <p:nvPr>
            <p:ph type="title"/>
          </p:nvPr>
        </p:nvSpPr>
        <p:spPr>
          <a:xfrm>
            <a:off x="707571" y="495753"/>
            <a:ext cx="10515600" cy="1325563"/>
          </a:xfrm>
        </p:spPr>
        <p:txBody>
          <a:bodyPr/>
          <a:lstStyle/>
          <a:p>
            <a:r>
              <a:rPr lang="en-US" b="1">
                <a:ea typeface="+mj-lt"/>
                <a:cs typeface="+mj-lt"/>
              </a:rPr>
              <a:t>Mapping Objectives to the Course Scope</a:t>
            </a:r>
            <a:endParaRPr lang="en-US" b="1"/>
          </a:p>
        </p:txBody>
      </p:sp>
      <p:graphicFrame>
        <p:nvGraphicFramePr>
          <p:cNvPr id="4" name="Table 3">
            <a:extLst>
              <a:ext uri="{FF2B5EF4-FFF2-40B4-BE49-F238E27FC236}">
                <a16:creationId xmlns:a16="http://schemas.microsoft.com/office/drawing/2014/main" id="{6110A884-EBF8-D13F-8E22-478656AF076C}"/>
              </a:ext>
            </a:extLst>
          </p:cNvPr>
          <p:cNvGraphicFramePr>
            <a:graphicFrameLocks noGrp="1"/>
          </p:cNvGraphicFramePr>
          <p:nvPr>
            <p:extLst>
              <p:ext uri="{D42A27DB-BD31-4B8C-83A1-F6EECF244321}">
                <p14:modId xmlns:p14="http://schemas.microsoft.com/office/powerpoint/2010/main" val="1604694490"/>
              </p:ext>
            </p:extLst>
          </p:nvPr>
        </p:nvGraphicFramePr>
        <p:xfrm>
          <a:off x="838200" y="1919235"/>
          <a:ext cx="10515600" cy="4300698"/>
        </p:xfrm>
        <a:graphic>
          <a:graphicData uri="http://schemas.openxmlformats.org/drawingml/2006/table">
            <a:tbl>
              <a:tblPr>
                <a:tableStyleId>{5940675A-B579-460E-94D1-54222C63F5DA}</a:tableStyleId>
              </a:tblPr>
              <a:tblGrid>
                <a:gridCol w="5257800">
                  <a:extLst>
                    <a:ext uri="{9D8B030D-6E8A-4147-A177-3AD203B41FA5}">
                      <a16:colId xmlns:a16="http://schemas.microsoft.com/office/drawing/2014/main" val="790255219"/>
                    </a:ext>
                  </a:extLst>
                </a:gridCol>
                <a:gridCol w="5257800">
                  <a:extLst>
                    <a:ext uri="{9D8B030D-6E8A-4147-A177-3AD203B41FA5}">
                      <a16:colId xmlns:a16="http://schemas.microsoft.com/office/drawing/2014/main" val="3538354029"/>
                    </a:ext>
                  </a:extLst>
                </a:gridCol>
              </a:tblGrid>
              <a:tr h="521297">
                <a:tc>
                  <a:txBody>
                    <a:bodyPr/>
                    <a:lstStyle/>
                    <a:p>
                      <a:pPr>
                        <a:buNone/>
                      </a:pPr>
                      <a:r>
                        <a:rPr lang="en-IN" b="1">
                          <a:effectLst/>
                        </a:rPr>
                        <a:t>AIR Concept</a:t>
                      </a:r>
                      <a:endParaRPr lang="en-IN">
                        <a:effectLst/>
                        <a:latin typeface="Google Sans Text"/>
                      </a:endParaRPr>
                    </a:p>
                  </a:txBody>
                  <a:tcPr anchor="ctr"/>
                </a:tc>
                <a:tc>
                  <a:txBody>
                    <a:bodyPr/>
                    <a:lstStyle/>
                    <a:p>
                      <a:pPr>
                        <a:buNone/>
                      </a:pPr>
                      <a:r>
                        <a:rPr lang="en-IN" b="1">
                          <a:effectLst/>
                        </a:rPr>
                        <a:t>Project Implementation</a:t>
                      </a:r>
                      <a:endParaRPr lang="en-IN">
                        <a:effectLst/>
                        <a:latin typeface="Google Sans Text"/>
                      </a:endParaRPr>
                    </a:p>
                  </a:txBody>
                  <a:tcPr anchor="ctr"/>
                </a:tc>
                <a:extLst>
                  <a:ext uri="{0D108BD9-81ED-4DB2-BD59-A6C34878D82A}">
                    <a16:rowId xmlns:a16="http://schemas.microsoft.com/office/drawing/2014/main" val="1342371798"/>
                  </a:ext>
                </a:extLst>
              </a:tr>
              <a:tr h="912269">
                <a:tc>
                  <a:txBody>
                    <a:bodyPr/>
                    <a:lstStyle/>
                    <a:p>
                      <a:pPr>
                        <a:buNone/>
                      </a:pPr>
                      <a:r>
                        <a:rPr lang="en-IN" b="1">
                          <a:effectLst/>
                        </a:rPr>
                        <a:t>Serial Manipulators</a:t>
                      </a:r>
                      <a:endParaRPr lang="en-IN">
                        <a:effectLst/>
                        <a:latin typeface="Google Sans Text"/>
                      </a:endParaRPr>
                    </a:p>
                  </a:txBody>
                  <a:tcPr anchor="ctr"/>
                </a:tc>
                <a:tc>
                  <a:txBody>
                    <a:bodyPr/>
                    <a:lstStyle/>
                    <a:p>
                      <a:pPr>
                        <a:buNone/>
                      </a:pPr>
                      <a:r>
                        <a:rPr lang="en-US" dirty="0">
                          <a:effectLst/>
                        </a:rPr>
                        <a:t>3-DOF Acrylic Robotic Arm (Base, Shoulder, Elbow, Wrist)</a:t>
                      </a:r>
                      <a:endParaRPr lang="en-US" dirty="0">
                        <a:effectLst/>
                        <a:latin typeface="Google Sans Text"/>
                      </a:endParaRPr>
                    </a:p>
                  </a:txBody>
                  <a:tcPr anchor="ctr"/>
                </a:tc>
                <a:extLst>
                  <a:ext uri="{0D108BD9-81ED-4DB2-BD59-A6C34878D82A}">
                    <a16:rowId xmlns:a16="http://schemas.microsoft.com/office/drawing/2014/main" val="906312229"/>
                  </a:ext>
                </a:extLst>
              </a:tr>
              <a:tr h="912269">
                <a:tc>
                  <a:txBody>
                    <a:bodyPr/>
                    <a:lstStyle/>
                    <a:p>
                      <a:pPr>
                        <a:buNone/>
                      </a:pPr>
                      <a:r>
                        <a:rPr lang="en-IN" b="1">
                          <a:effectLst/>
                        </a:rPr>
                        <a:t>Inverse Kinematics</a:t>
                      </a:r>
                      <a:endParaRPr lang="en-IN">
                        <a:effectLst/>
                        <a:latin typeface="Google Sans Text"/>
                      </a:endParaRPr>
                    </a:p>
                  </a:txBody>
                  <a:tcPr anchor="ctr"/>
                </a:tc>
                <a:tc>
                  <a:txBody>
                    <a:bodyPr/>
                    <a:lstStyle/>
                    <a:p>
                      <a:pPr>
                        <a:buNone/>
                      </a:pPr>
                      <a:r>
                        <a:rPr lang="en-US" dirty="0">
                          <a:effectLst/>
                        </a:rPr>
                        <a:t>Geometric approach for computing Joint Angles (theta1, theta2, theta3)</a:t>
                      </a:r>
                      <a:endParaRPr lang="en-US" dirty="0">
                        <a:effectLst/>
                        <a:latin typeface="Google Sans Text"/>
                      </a:endParaRPr>
                    </a:p>
                  </a:txBody>
                  <a:tcPr anchor="ctr"/>
                </a:tc>
                <a:extLst>
                  <a:ext uri="{0D108BD9-81ED-4DB2-BD59-A6C34878D82A}">
                    <a16:rowId xmlns:a16="http://schemas.microsoft.com/office/drawing/2014/main" val="1188654844"/>
                  </a:ext>
                </a:extLst>
              </a:tr>
              <a:tr h="521297">
                <a:tc>
                  <a:txBody>
                    <a:bodyPr/>
                    <a:lstStyle/>
                    <a:p>
                      <a:pPr>
                        <a:buNone/>
                      </a:pPr>
                      <a:r>
                        <a:rPr lang="en-IN" b="1">
                          <a:effectLst/>
                        </a:rPr>
                        <a:t>Robot Control</a:t>
                      </a:r>
                      <a:endParaRPr lang="en-IN">
                        <a:effectLst/>
                        <a:latin typeface="Google Sans Text"/>
                      </a:endParaRPr>
                    </a:p>
                  </a:txBody>
                  <a:tcPr anchor="ctr"/>
                </a:tc>
                <a:tc>
                  <a:txBody>
                    <a:bodyPr/>
                    <a:lstStyle/>
                    <a:p>
                      <a:pPr>
                        <a:buNone/>
                      </a:pPr>
                      <a:r>
                        <a:rPr lang="it-IT">
                          <a:effectLst/>
                        </a:rPr>
                        <a:t>I2C-based PWM control via PCA9685 Driver</a:t>
                      </a:r>
                      <a:endParaRPr lang="it-IT">
                        <a:effectLst/>
                        <a:latin typeface="Google Sans Text"/>
                      </a:endParaRPr>
                    </a:p>
                  </a:txBody>
                  <a:tcPr anchor="ctr"/>
                </a:tc>
                <a:extLst>
                  <a:ext uri="{0D108BD9-81ED-4DB2-BD59-A6C34878D82A}">
                    <a16:rowId xmlns:a16="http://schemas.microsoft.com/office/drawing/2014/main" val="2776186730"/>
                  </a:ext>
                </a:extLst>
              </a:tr>
              <a:tr h="912269">
                <a:tc>
                  <a:txBody>
                    <a:bodyPr/>
                    <a:lstStyle/>
                    <a:p>
                      <a:pPr>
                        <a:buNone/>
                      </a:pPr>
                      <a:r>
                        <a:rPr lang="en-IN" b="1">
                          <a:effectLst/>
                        </a:rPr>
                        <a:t>Perception</a:t>
                      </a:r>
                      <a:endParaRPr lang="en-IN">
                        <a:effectLst/>
                        <a:latin typeface="Google Sans Text"/>
                      </a:endParaRPr>
                    </a:p>
                  </a:txBody>
                  <a:tcPr anchor="ctr"/>
                </a:tc>
                <a:tc>
                  <a:txBody>
                    <a:bodyPr/>
                    <a:lstStyle/>
                    <a:p>
                      <a:pPr>
                        <a:buNone/>
                      </a:pPr>
                      <a:r>
                        <a:rPr lang="en-US">
                          <a:effectLst/>
                        </a:rPr>
                        <a:t>Camera-based Object Detection &amp; Coordinate Mapping</a:t>
                      </a:r>
                      <a:endParaRPr lang="en-US">
                        <a:effectLst/>
                        <a:latin typeface="Google Sans Text"/>
                      </a:endParaRPr>
                    </a:p>
                  </a:txBody>
                  <a:tcPr anchor="ctr"/>
                </a:tc>
                <a:extLst>
                  <a:ext uri="{0D108BD9-81ED-4DB2-BD59-A6C34878D82A}">
                    <a16:rowId xmlns:a16="http://schemas.microsoft.com/office/drawing/2014/main" val="786560950"/>
                  </a:ext>
                </a:extLst>
              </a:tr>
              <a:tr h="521297">
                <a:tc>
                  <a:txBody>
                    <a:bodyPr/>
                    <a:lstStyle/>
                    <a:p>
                      <a:pPr>
                        <a:buNone/>
                      </a:pPr>
                      <a:r>
                        <a:rPr lang="en-IN" b="1">
                          <a:effectLst/>
                        </a:rPr>
                        <a:t>Hardware Integration</a:t>
                      </a:r>
                      <a:endParaRPr lang="en-IN">
                        <a:effectLst/>
                        <a:latin typeface="Google Sans Text"/>
                      </a:endParaRPr>
                    </a:p>
                  </a:txBody>
                  <a:tcPr anchor="ctr"/>
                </a:tc>
                <a:tc>
                  <a:txBody>
                    <a:bodyPr/>
                    <a:lstStyle/>
                    <a:p>
                      <a:pPr>
                        <a:buNone/>
                      </a:pPr>
                      <a:r>
                        <a:rPr lang="en-IN" dirty="0">
                          <a:effectLst/>
                        </a:rPr>
                        <a:t>Raspberry Pi 5 + Buck Converter + Relay Logic</a:t>
                      </a:r>
                      <a:endParaRPr lang="en-IN" dirty="0">
                        <a:effectLst/>
                        <a:latin typeface="Google Sans Text"/>
                      </a:endParaRPr>
                    </a:p>
                  </a:txBody>
                  <a:tcPr anchor="ctr"/>
                </a:tc>
                <a:extLst>
                  <a:ext uri="{0D108BD9-81ED-4DB2-BD59-A6C34878D82A}">
                    <a16:rowId xmlns:a16="http://schemas.microsoft.com/office/drawing/2014/main" val="4202618797"/>
                  </a:ext>
                </a:extLst>
              </a:tr>
            </a:tbl>
          </a:graphicData>
        </a:graphic>
      </p:graphicFrame>
    </p:spTree>
    <p:extLst>
      <p:ext uri="{BB962C8B-B14F-4D97-AF65-F5344CB8AC3E}">
        <p14:creationId xmlns:p14="http://schemas.microsoft.com/office/powerpoint/2010/main" val="972191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05B82-D5B7-F1E0-5962-1F1EF9BD286D}"/>
              </a:ext>
            </a:extLst>
          </p:cNvPr>
          <p:cNvSpPr>
            <a:spLocks noGrp="1"/>
          </p:cNvSpPr>
          <p:nvPr>
            <p:ph type="title"/>
          </p:nvPr>
        </p:nvSpPr>
        <p:spPr>
          <a:xfrm>
            <a:off x="838200" y="384917"/>
            <a:ext cx="10515600" cy="1325563"/>
          </a:xfrm>
        </p:spPr>
        <p:txBody>
          <a:bodyPr/>
          <a:lstStyle/>
          <a:p>
            <a:r>
              <a:rPr lang="en-US" b="1">
                <a:ea typeface="+mj-lt"/>
                <a:cs typeface="+mj-lt"/>
              </a:rPr>
              <a:t>Week wise Split-up Plan to Achieve </a:t>
            </a:r>
            <a:endParaRPr lang="en-US" b="1"/>
          </a:p>
          <a:p>
            <a:r>
              <a:rPr lang="en-US" b="1">
                <a:ea typeface="+mj-lt"/>
                <a:cs typeface="+mj-lt"/>
              </a:rPr>
              <a:t>Objectives</a:t>
            </a:r>
            <a:endParaRPr lang="en-US"/>
          </a:p>
          <a:p>
            <a:endParaRPr lang="en-US"/>
          </a:p>
        </p:txBody>
      </p:sp>
      <p:sp>
        <p:nvSpPr>
          <p:cNvPr id="3" name="TextBox 2">
            <a:extLst>
              <a:ext uri="{FF2B5EF4-FFF2-40B4-BE49-F238E27FC236}">
                <a16:creationId xmlns:a16="http://schemas.microsoft.com/office/drawing/2014/main" id="{1BABEF25-917A-5BBD-0FC1-C833B666D508}"/>
              </a:ext>
            </a:extLst>
          </p:cNvPr>
          <p:cNvSpPr txBox="1"/>
          <p:nvPr/>
        </p:nvSpPr>
        <p:spPr>
          <a:xfrm>
            <a:off x="841169" y="1707078"/>
            <a:ext cx="9470571" cy="46782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panose="05000000000000000000" pitchFamily="2" charset="2"/>
              <a:buChar char="Ø"/>
            </a:pPr>
            <a:r>
              <a:rPr lang="en-US" sz="2000" b="1" dirty="0">
                <a:latin typeface="Google Sans Text"/>
                <a:ea typeface="Google Sans Text"/>
                <a:cs typeface="Google Sans Text"/>
              </a:rPr>
              <a:t>Week 1-2:</a:t>
            </a:r>
            <a:r>
              <a:rPr lang="en-US" sz="2000" dirty="0">
                <a:latin typeface="Google Sans Text"/>
                <a:ea typeface="Google Sans Text"/>
                <a:cs typeface="Google Sans Text"/>
              </a:rPr>
              <a:t> Hardware procurement and mechanical assembly of the acrylic arm.</a:t>
            </a:r>
          </a:p>
          <a:p>
            <a:pPr marL="342900" indent="-342900">
              <a:buFont typeface="Wingdings" panose="05000000000000000000" pitchFamily="2" charset="2"/>
              <a:buChar char="Ø"/>
            </a:pPr>
            <a:endParaRPr lang="en-US" sz="2000" dirty="0">
              <a:latin typeface="Google Sans Text"/>
              <a:ea typeface="Google Sans Text"/>
              <a:cs typeface="Google Sans Text"/>
            </a:endParaRPr>
          </a:p>
          <a:p>
            <a:pPr marL="342900" indent="-342900">
              <a:buFont typeface="Wingdings" panose="05000000000000000000" pitchFamily="2" charset="2"/>
              <a:buChar char="Ø"/>
            </a:pPr>
            <a:r>
              <a:rPr lang="en-US" sz="2000" b="1" dirty="0">
                <a:latin typeface="Google Sans Text"/>
                <a:ea typeface="Google Sans Text"/>
                <a:cs typeface="Google Sans Text"/>
              </a:rPr>
              <a:t>Week 3:</a:t>
            </a:r>
            <a:r>
              <a:rPr lang="en-US" sz="2000" dirty="0">
                <a:latin typeface="Google Sans Text"/>
                <a:ea typeface="Google Sans Text"/>
                <a:cs typeface="Google Sans Text"/>
              </a:rPr>
              <a:t> Electrical wiring (Power distribution, Buck Converter tuning, Sensor integration).</a:t>
            </a:r>
          </a:p>
          <a:p>
            <a:pPr marL="342900" indent="-342900">
              <a:buFont typeface="Wingdings" panose="05000000000000000000" pitchFamily="2" charset="2"/>
              <a:buChar char="Ø"/>
            </a:pPr>
            <a:endParaRPr lang="en-US" sz="2000" dirty="0">
              <a:latin typeface="Google Sans Text"/>
              <a:ea typeface="Google Sans Text"/>
              <a:cs typeface="Google Sans Text"/>
            </a:endParaRPr>
          </a:p>
          <a:p>
            <a:pPr marL="342900" indent="-342900">
              <a:buFont typeface="Wingdings" panose="05000000000000000000" pitchFamily="2" charset="2"/>
              <a:buChar char="Ø"/>
            </a:pPr>
            <a:r>
              <a:rPr lang="en-US" sz="2000" b="1" dirty="0">
                <a:latin typeface="Google Sans Text"/>
                <a:ea typeface="Google Sans Text"/>
                <a:cs typeface="Google Sans Text"/>
              </a:rPr>
              <a:t>Week 4:</a:t>
            </a:r>
            <a:r>
              <a:rPr lang="en-US" sz="2000" dirty="0">
                <a:latin typeface="Google Sans Text"/>
                <a:ea typeface="Google Sans Text"/>
                <a:cs typeface="Google Sans Text"/>
              </a:rPr>
              <a:t> Python implementation of Forward Kinematics to visualize the arm's reach.</a:t>
            </a:r>
          </a:p>
          <a:p>
            <a:pPr marL="342900" indent="-342900">
              <a:buFont typeface="Wingdings" panose="05000000000000000000" pitchFamily="2" charset="2"/>
              <a:buChar char="Ø"/>
            </a:pPr>
            <a:endParaRPr lang="en-US" sz="2000" dirty="0">
              <a:latin typeface="Google Sans Text"/>
              <a:ea typeface="Google Sans Text"/>
              <a:cs typeface="Google Sans Text"/>
            </a:endParaRPr>
          </a:p>
          <a:p>
            <a:pPr marL="342900" indent="-342900">
              <a:buFont typeface="Wingdings" panose="05000000000000000000" pitchFamily="2" charset="2"/>
              <a:buChar char="Ø"/>
            </a:pPr>
            <a:r>
              <a:rPr lang="en-US" sz="2000" b="1" dirty="0">
                <a:latin typeface="Google Sans Text"/>
                <a:ea typeface="Google Sans Text"/>
                <a:cs typeface="Google Sans Text"/>
              </a:rPr>
              <a:t>Week 5:</a:t>
            </a:r>
            <a:r>
              <a:rPr lang="en-US" sz="2000" dirty="0">
                <a:latin typeface="Google Sans Text"/>
                <a:ea typeface="Google Sans Text"/>
                <a:cs typeface="Google Sans Text"/>
              </a:rPr>
              <a:t> Deriving and coding the Inverse Kinematics equations.</a:t>
            </a:r>
          </a:p>
          <a:p>
            <a:pPr marL="342900" indent="-342900">
              <a:buFont typeface="Wingdings" panose="05000000000000000000" pitchFamily="2" charset="2"/>
              <a:buChar char="Ø"/>
            </a:pPr>
            <a:endParaRPr lang="en-US" sz="2000" dirty="0">
              <a:latin typeface="Google Sans Text"/>
              <a:ea typeface="Google Sans Text"/>
              <a:cs typeface="Google Sans Text"/>
            </a:endParaRPr>
          </a:p>
          <a:p>
            <a:pPr marL="342900" indent="-342900">
              <a:buFont typeface="Wingdings" panose="05000000000000000000" pitchFamily="2" charset="2"/>
              <a:buChar char="Ø"/>
            </a:pPr>
            <a:r>
              <a:rPr lang="en-US" sz="2000" b="1" dirty="0">
                <a:latin typeface="Google Sans Text"/>
                <a:ea typeface="Google Sans Text"/>
                <a:cs typeface="Google Sans Text"/>
              </a:rPr>
              <a:t>Week 6:</a:t>
            </a:r>
            <a:r>
              <a:rPr lang="en-US" sz="2000" dirty="0">
                <a:latin typeface="Google Sans Text"/>
                <a:ea typeface="Google Sans Text"/>
                <a:cs typeface="Google Sans Text"/>
              </a:rPr>
              <a:t> Integrating the Camera and OpenCV for object detection.</a:t>
            </a:r>
          </a:p>
          <a:p>
            <a:pPr marL="342900" indent="-342900">
              <a:buFont typeface="Wingdings" panose="05000000000000000000" pitchFamily="2" charset="2"/>
              <a:buChar char="Ø"/>
            </a:pPr>
            <a:endParaRPr lang="en-US" sz="2000" dirty="0">
              <a:latin typeface="Google Sans Text"/>
              <a:ea typeface="Google Sans Text"/>
              <a:cs typeface="Google Sans Text"/>
            </a:endParaRPr>
          </a:p>
          <a:p>
            <a:pPr marL="342900" indent="-342900">
              <a:buFont typeface="Wingdings" panose="05000000000000000000" pitchFamily="2" charset="2"/>
              <a:buChar char="Ø"/>
            </a:pPr>
            <a:r>
              <a:rPr lang="en-US" sz="2000" b="1" dirty="0">
                <a:latin typeface="Google Sans Text"/>
                <a:ea typeface="Google Sans Text"/>
                <a:cs typeface="Google Sans Text"/>
              </a:rPr>
              <a:t>Week 7:</a:t>
            </a:r>
            <a:r>
              <a:rPr lang="en-US" sz="2000" dirty="0">
                <a:latin typeface="Google Sans Text"/>
                <a:ea typeface="Google Sans Text"/>
                <a:cs typeface="Google Sans Text"/>
              </a:rPr>
              <a:t> System integration (Vision to IK to Motor movement) and testing.</a:t>
            </a:r>
          </a:p>
          <a:p>
            <a:pPr marL="342900" indent="-342900">
              <a:buFont typeface="Wingdings" panose="05000000000000000000" pitchFamily="2" charset="2"/>
              <a:buChar char="Ø"/>
            </a:pPr>
            <a:endParaRPr lang="en-US" sz="2000" dirty="0">
              <a:latin typeface="Google Sans Text"/>
              <a:ea typeface="Google Sans Text"/>
              <a:cs typeface="Google Sans Text"/>
            </a:endParaRPr>
          </a:p>
          <a:p>
            <a:pPr marL="342900" indent="-342900">
              <a:buFont typeface="Wingdings" panose="05000000000000000000" pitchFamily="2" charset="2"/>
              <a:buChar char="Ø"/>
            </a:pPr>
            <a:r>
              <a:rPr lang="en-US" sz="2000" b="1" dirty="0">
                <a:latin typeface="Google Sans Text"/>
                <a:ea typeface="Google Sans Text"/>
                <a:cs typeface="Google Sans Text"/>
              </a:rPr>
              <a:t>Week 8:</a:t>
            </a:r>
            <a:r>
              <a:rPr lang="en-US" sz="2000" dirty="0">
                <a:latin typeface="Google Sans Text"/>
                <a:ea typeface="Google Sans Text"/>
                <a:cs typeface="Google Sans Text"/>
              </a:rPr>
              <a:t> Final optimization and Report writing</a:t>
            </a:r>
          </a:p>
          <a:p>
            <a:pPr algn="ctr"/>
            <a:endParaRPr lang="en-US" dirty="0"/>
          </a:p>
        </p:txBody>
      </p:sp>
    </p:spTree>
    <p:extLst>
      <p:ext uri="{BB962C8B-B14F-4D97-AF65-F5344CB8AC3E}">
        <p14:creationId xmlns:p14="http://schemas.microsoft.com/office/powerpoint/2010/main" val="320307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AF4B5-AC8C-5487-AF96-801EC8862957}"/>
              </a:ext>
            </a:extLst>
          </p:cNvPr>
          <p:cNvSpPr>
            <a:spLocks noGrp="1"/>
          </p:cNvSpPr>
          <p:nvPr>
            <p:ph type="title"/>
          </p:nvPr>
        </p:nvSpPr>
        <p:spPr/>
        <p:txBody>
          <a:bodyPr/>
          <a:lstStyle/>
          <a:p>
            <a:r>
              <a:rPr lang="en-US" b="1" dirty="0"/>
              <a:t>SYSTEM ARCHITECTURE</a:t>
            </a:r>
            <a:endParaRPr lang="en-IN" b="1" dirty="0"/>
          </a:p>
        </p:txBody>
      </p:sp>
      <p:sp>
        <p:nvSpPr>
          <p:cNvPr id="5" name="TextBox 4">
            <a:extLst>
              <a:ext uri="{FF2B5EF4-FFF2-40B4-BE49-F238E27FC236}">
                <a16:creationId xmlns:a16="http://schemas.microsoft.com/office/drawing/2014/main" id="{1AED1190-A5A9-603E-866D-24728453BD50}"/>
              </a:ext>
            </a:extLst>
          </p:cNvPr>
          <p:cNvSpPr txBox="1"/>
          <p:nvPr/>
        </p:nvSpPr>
        <p:spPr>
          <a:xfrm>
            <a:off x="838200" y="1690688"/>
            <a:ext cx="10235084" cy="4154984"/>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Google Sans Text"/>
              </a:rPr>
              <a:t>System Components:</a:t>
            </a:r>
            <a:endParaRPr kumimoji="0" lang="en-US" altLang="en-US" sz="2400" b="0" i="0" u="none" strike="noStrike" cap="none" normalizeH="0" baseline="0" dirty="0">
              <a:ln>
                <a:noFill/>
              </a:ln>
              <a:solidFill>
                <a:schemeClr val="tx1"/>
              </a:solidFill>
              <a:effectLst/>
              <a:latin typeface="Google Sans Tex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Fixed Overhead Camera:</a:t>
            </a:r>
            <a:r>
              <a:rPr kumimoji="0" lang="en-US" altLang="en-US" sz="2400" b="0" i="0" u="none" strike="noStrike" cap="none" normalizeH="0" baseline="0" dirty="0">
                <a:ln>
                  <a:noFill/>
                </a:ln>
                <a:solidFill>
                  <a:schemeClr val="tx1"/>
                </a:solidFill>
                <a:effectLst/>
                <a:latin typeface="Google Sans Text"/>
              </a:rPr>
              <a:t> Raspberry Pi Camera / USB Webcam.</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Central Processor:</a:t>
            </a:r>
            <a:r>
              <a:rPr kumimoji="0" lang="en-US" altLang="en-US" sz="2400" b="0" i="0" u="none" strike="noStrike" cap="none" normalizeH="0" baseline="0" dirty="0">
                <a:ln>
                  <a:noFill/>
                </a:ln>
                <a:solidFill>
                  <a:schemeClr val="tx1"/>
                </a:solidFill>
                <a:effectLst/>
                <a:latin typeface="Google Sans Text"/>
              </a:rPr>
              <a:t> Raspberry Pi 5 (Vision Processing &amp; Kinematics).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Motor Interface:</a:t>
            </a:r>
            <a:r>
              <a:rPr kumimoji="0" lang="en-US" altLang="en-US" sz="2400" b="0" i="0" u="none" strike="noStrike" cap="none" normalizeH="0" baseline="0" dirty="0">
                <a:ln>
                  <a:noFill/>
                </a:ln>
                <a:solidFill>
                  <a:schemeClr val="tx1"/>
                </a:solidFill>
                <a:effectLst/>
                <a:latin typeface="Google Sans Text"/>
              </a:rPr>
              <a:t> PCA9685 16-Channel Servo Driver.</a:t>
            </a:r>
          </a:p>
          <a:p>
            <a:pPr marL="285750" lvl="0" indent="-285750" eaLnBrk="0" fontAlgn="base" hangingPunct="0">
              <a:spcBef>
                <a:spcPct val="0"/>
              </a:spcBef>
              <a:spcAft>
                <a:spcPct val="0"/>
              </a:spcAft>
              <a:buFont typeface="Wingdings" panose="05000000000000000000" pitchFamily="2" charset="2"/>
              <a:buChar char="Ø"/>
            </a:pPr>
            <a:r>
              <a:rPr kumimoji="0" lang="en-US" altLang="en-US" sz="2400" b="1" i="0" u="none" strike="noStrike" cap="none" normalizeH="0" baseline="0" dirty="0">
                <a:ln>
                  <a:noFill/>
                </a:ln>
                <a:solidFill>
                  <a:schemeClr val="tx1"/>
                </a:solidFill>
                <a:effectLst/>
                <a:latin typeface="Google Sans Text"/>
              </a:rPr>
              <a:t>Actuation:</a:t>
            </a:r>
            <a:r>
              <a:rPr kumimoji="0" lang="en-US" altLang="en-US" sz="2400" b="0" i="0" u="none" strike="noStrike" cap="none" normalizeH="0" baseline="0" dirty="0">
                <a:ln>
                  <a:noFill/>
                </a:ln>
                <a:solidFill>
                  <a:schemeClr val="tx1"/>
                </a:solidFill>
                <a:effectLst/>
                <a:latin typeface="Google Sans Text"/>
              </a:rPr>
              <a:t> </a:t>
            </a:r>
            <a:r>
              <a:rPr lang="en-US" altLang="en-US" sz="2400" dirty="0">
                <a:latin typeface="Google Sans Text"/>
              </a:rPr>
              <a:t>1xSG90 and 3xMG90S</a:t>
            </a:r>
            <a:r>
              <a:rPr kumimoji="0" lang="en-US" altLang="en-US" sz="2400" b="0" i="0" u="none" strike="noStrike" cap="none" normalizeH="0" baseline="0" dirty="0">
                <a:ln>
                  <a:noFill/>
                </a:ln>
                <a:solidFill>
                  <a:schemeClr val="tx1"/>
                </a:solidFill>
                <a:effectLst/>
                <a:latin typeface="Google Sans Text"/>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End-Effector:</a:t>
            </a:r>
            <a:r>
              <a:rPr kumimoji="0" lang="en-US" altLang="en-US" sz="2400" b="0" i="0" u="none" strike="noStrike" cap="none" normalizeH="0" baseline="0" dirty="0">
                <a:ln>
                  <a:noFill/>
                </a:ln>
                <a:solidFill>
                  <a:schemeClr val="tx1"/>
                </a:solidFill>
                <a:effectLst/>
                <a:latin typeface="Google Sans Text"/>
              </a:rPr>
              <a:t> 12V DC Electromagnet (Controlled via Relay).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solidFill>
                <a:schemeClr val="tx1"/>
              </a:solidFill>
              <a:effectLst/>
              <a:latin typeface="Google Sans Text"/>
            </a:endParaRP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Google Sans Text"/>
              </a:rPr>
              <a:t>Information Flow:</a:t>
            </a:r>
            <a:endParaRPr kumimoji="0" lang="en-US" altLang="en-US" sz="2400" b="0" i="0" u="none" strike="noStrike" cap="none" normalizeH="0" baseline="0" dirty="0">
              <a:ln>
                <a:noFill/>
              </a:ln>
              <a:solidFill>
                <a:schemeClr val="tx1"/>
              </a:solidFill>
              <a:effectLst/>
              <a:latin typeface="Google Sans Tex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Camera </a:t>
            </a:r>
            <a:r>
              <a:rPr lang="en-US" altLang="en-US" sz="2400" b="1" dirty="0">
                <a:latin typeface="Google Sans Text"/>
                <a:sym typeface="Wingdings" panose="05000000000000000000" pitchFamily="2" charset="2"/>
              </a:rPr>
              <a:t> </a:t>
            </a:r>
            <a:r>
              <a:rPr kumimoji="0" lang="en-US" altLang="en-US" sz="2400" b="1" i="0" u="none" strike="noStrike" cap="none" normalizeH="0" baseline="0" dirty="0">
                <a:ln>
                  <a:noFill/>
                </a:ln>
                <a:solidFill>
                  <a:schemeClr val="tx1"/>
                </a:solidFill>
                <a:effectLst/>
                <a:latin typeface="Google Sans Text"/>
              </a:rPr>
              <a:t>Pi:</a:t>
            </a:r>
            <a:r>
              <a:rPr kumimoji="0" lang="en-US" altLang="en-US" sz="2400" b="0" i="0" u="none" strike="noStrike" cap="none" normalizeH="0" baseline="0" dirty="0">
                <a:ln>
                  <a:noFill/>
                </a:ln>
                <a:solidFill>
                  <a:schemeClr val="tx1"/>
                </a:solidFill>
                <a:effectLst/>
                <a:latin typeface="Google Sans Text"/>
              </a:rPr>
              <a:t> Image Capture &amp; Coordinate Extraction.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 Pi </a:t>
            </a:r>
            <a:r>
              <a:rPr lang="en-US" altLang="en-US" sz="2400" b="1" dirty="0">
                <a:latin typeface="Google Sans Text"/>
                <a:sym typeface="Wingdings" panose="05000000000000000000" pitchFamily="2" charset="2"/>
              </a:rPr>
              <a:t></a:t>
            </a:r>
            <a:r>
              <a:rPr kumimoji="0" lang="en-US" altLang="en-US" sz="2400" b="1" i="0" u="none" strike="noStrike" cap="none" normalizeH="0" baseline="0" dirty="0">
                <a:ln>
                  <a:noFill/>
                </a:ln>
                <a:solidFill>
                  <a:schemeClr val="tx1"/>
                </a:solidFill>
                <a:effectLst/>
                <a:latin typeface="Google Sans Text"/>
              </a:rPr>
              <a:t> PCA9685:</a:t>
            </a:r>
            <a:r>
              <a:rPr kumimoji="0" lang="en-US" altLang="en-US" sz="2400" b="0" i="0" u="none" strike="noStrike" cap="none" normalizeH="0" baseline="0" dirty="0">
                <a:ln>
                  <a:noFill/>
                </a:ln>
                <a:solidFill>
                  <a:schemeClr val="tx1"/>
                </a:solidFill>
                <a:effectLst/>
                <a:latin typeface="Google Sans Text"/>
              </a:rPr>
              <a:t> Joint Angle Commands (I2C).</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Pi </a:t>
            </a:r>
            <a:r>
              <a:rPr lang="en-US" altLang="en-US" sz="2400" b="1" dirty="0">
                <a:latin typeface="Google Sans Text"/>
                <a:sym typeface="Wingdings" panose="05000000000000000000" pitchFamily="2" charset="2"/>
              </a:rPr>
              <a:t></a:t>
            </a:r>
            <a:r>
              <a:rPr kumimoji="0" lang="en-US" altLang="en-US" sz="2400" b="1" i="0" u="none" strike="noStrike" cap="none" normalizeH="0" baseline="0" dirty="0">
                <a:ln>
                  <a:noFill/>
                </a:ln>
                <a:solidFill>
                  <a:schemeClr val="tx1"/>
                </a:solidFill>
                <a:effectLst/>
                <a:latin typeface="Google Sans Text"/>
              </a:rPr>
              <a:t> Relay:</a:t>
            </a:r>
            <a:r>
              <a:rPr kumimoji="0" lang="en-US" altLang="en-US" sz="2400" b="0" i="0" u="none" strike="noStrike" cap="none" normalizeH="0" baseline="0" dirty="0">
                <a:ln>
                  <a:noFill/>
                </a:ln>
                <a:solidFill>
                  <a:schemeClr val="tx1"/>
                </a:solidFill>
                <a:effectLst/>
                <a:latin typeface="Google Sans Text"/>
              </a:rPr>
              <a:t> Magnet ON/OFF Signal (GPIO).</a:t>
            </a:r>
          </a:p>
        </p:txBody>
      </p:sp>
    </p:spTree>
    <p:extLst>
      <p:ext uri="{BB962C8B-B14F-4D97-AF65-F5344CB8AC3E}">
        <p14:creationId xmlns:p14="http://schemas.microsoft.com/office/powerpoint/2010/main" val="282750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04A17-2EED-1D79-AD48-D01303E7C25A}"/>
              </a:ext>
            </a:extLst>
          </p:cNvPr>
          <p:cNvSpPr>
            <a:spLocks noGrp="1"/>
          </p:cNvSpPr>
          <p:nvPr>
            <p:ph type="title"/>
          </p:nvPr>
        </p:nvSpPr>
        <p:spPr/>
        <p:txBody>
          <a:bodyPr/>
          <a:lstStyle/>
          <a:p>
            <a:r>
              <a:rPr lang="en-US" b="1" dirty="0"/>
              <a:t>INVERSE KINEMATICS APPROACH</a:t>
            </a:r>
            <a:endParaRPr lang="en-IN" b="1" dirty="0"/>
          </a:p>
        </p:txBody>
      </p:sp>
      <p:sp>
        <p:nvSpPr>
          <p:cNvPr id="5" name="TextBox 4">
            <a:extLst>
              <a:ext uri="{FF2B5EF4-FFF2-40B4-BE49-F238E27FC236}">
                <a16:creationId xmlns:a16="http://schemas.microsoft.com/office/drawing/2014/main" id="{6FCABA17-4462-D963-D91E-19CA100F881E}"/>
              </a:ext>
            </a:extLst>
          </p:cNvPr>
          <p:cNvSpPr txBox="1"/>
          <p:nvPr/>
        </p:nvSpPr>
        <p:spPr>
          <a:xfrm>
            <a:off x="838200" y="1690688"/>
            <a:ext cx="10225035" cy="3046988"/>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Google Sans Text"/>
              </a:rPr>
              <a:t>Robotic Arm Structure:</a:t>
            </a:r>
            <a:endParaRPr kumimoji="0" lang="en-US" altLang="en-US" sz="2400" b="0" i="0" u="none" strike="noStrike" cap="none" normalizeH="0" baseline="0" dirty="0">
              <a:ln>
                <a:noFill/>
              </a:ln>
              <a:solidFill>
                <a:schemeClr val="tx1"/>
              </a:solidFill>
              <a:effectLst/>
              <a:latin typeface="Google Sans Text"/>
            </a:endParaRPr>
          </a:p>
          <a:p>
            <a:pPr marL="8001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Google Sans Text"/>
              </a:rPr>
              <a:t>1 Base Motor (Yaw - theta1)</a:t>
            </a:r>
          </a:p>
          <a:p>
            <a:pPr marL="8001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Google Sans Text"/>
              </a:rPr>
              <a:t>3 Arm Motors (Pitch - theta2, theta3,theta4)</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Google Sans Text"/>
            </a:endParaRP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Google Sans Text"/>
              </a:rPr>
              <a:t>Inverse Kinematics Computes:</a:t>
            </a:r>
            <a:endParaRPr kumimoji="0" lang="en-US" altLang="en-US" sz="2400" b="0" i="0" u="none" strike="noStrike" cap="none" normalizeH="0" baseline="0" dirty="0">
              <a:ln>
                <a:noFill/>
              </a:ln>
              <a:solidFill>
                <a:schemeClr val="tx1"/>
              </a:solidFill>
              <a:effectLst/>
              <a:latin typeface="Google Sans Text"/>
            </a:endParaRPr>
          </a:p>
          <a:p>
            <a:pPr marL="8001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Google Sans Text"/>
              </a:rPr>
              <a:t>Required servo angles to reach the target (x, y, z) detected by the camera.</a:t>
            </a:r>
          </a:p>
          <a:p>
            <a:pPr marL="8001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Google Sans Text"/>
              </a:rPr>
              <a:t>Ensures the electromagnet lands flat on the scrap metal.</a:t>
            </a:r>
          </a:p>
          <a:p>
            <a:pPr marL="8001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Google Sans Text"/>
              </a:rPr>
              <a:t>Prevents mechanical singularities and collisions.</a:t>
            </a:r>
          </a:p>
        </p:txBody>
      </p:sp>
    </p:spTree>
    <p:extLst>
      <p:ext uri="{BB962C8B-B14F-4D97-AF65-F5344CB8AC3E}">
        <p14:creationId xmlns:p14="http://schemas.microsoft.com/office/powerpoint/2010/main" val="1430816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9B7A1-C8C1-8CDE-EDDF-22E5A42FF2C0}"/>
              </a:ext>
            </a:extLst>
          </p:cNvPr>
          <p:cNvSpPr>
            <a:spLocks noGrp="1"/>
          </p:cNvSpPr>
          <p:nvPr>
            <p:ph type="title"/>
          </p:nvPr>
        </p:nvSpPr>
        <p:spPr/>
        <p:txBody>
          <a:bodyPr/>
          <a:lstStyle/>
          <a:p>
            <a:r>
              <a:rPr lang="en-IN" b="1" dirty="0"/>
              <a:t>VISION &amp; DETECTION STRATEGY</a:t>
            </a:r>
            <a:endParaRPr lang="en-IN" dirty="0"/>
          </a:p>
        </p:txBody>
      </p:sp>
      <p:sp>
        <p:nvSpPr>
          <p:cNvPr id="5" name="TextBox 4">
            <a:extLst>
              <a:ext uri="{FF2B5EF4-FFF2-40B4-BE49-F238E27FC236}">
                <a16:creationId xmlns:a16="http://schemas.microsoft.com/office/drawing/2014/main" id="{EAEEDB05-CAAF-5DF1-D97B-A41CD4A45B14}"/>
              </a:ext>
            </a:extLst>
          </p:cNvPr>
          <p:cNvSpPr txBox="1"/>
          <p:nvPr/>
        </p:nvSpPr>
        <p:spPr>
          <a:xfrm>
            <a:off x="766186" y="1859339"/>
            <a:ext cx="10587613" cy="4154984"/>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Google Sans Text"/>
              </a:rPr>
              <a:t>Monitoring:</a:t>
            </a:r>
            <a:r>
              <a:rPr kumimoji="0" lang="en-US" altLang="en-US" sz="2400" b="0" i="0" u="none" strike="noStrike" cap="none" normalizeH="0" baseline="0" dirty="0">
                <a:ln>
                  <a:noFill/>
                </a:ln>
                <a:solidFill>
                  <a:schemeClr val="tx1"/>
                </a:solidFill>
                <a:effectLst/>
                <a:latin typeface="Google Sans Text"/>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Google Sans Text"/>
              </a:rPr>
              <a:t>Overhead camera continuously monitors the workspace.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solidFill>
                <a:schemeClr val="tx1"/>
              </a:solidFill>
              <a:effectLst/>
              <a:latin typeface="Google Sans Text"/>
            </a:endParaRP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Google Sans Text"/>
              </a:rPr>
              <a:t>Detection Logic:</a:t>
            </a:r>
            <a:endParaRPr kumimoji="0" lang="en-US" altLang="en-US" sz="2400" b="0" i="0" u="none" strike="noStrike" cap="none" normalizeH="0" baseline="0" dirty="0">
              <a:ln>
                <a:noFill/>
              </a:ln>
              <a:solidFill>
                <a:schemeClr val="tx1"/>
              </a:solidFill>
              <a:effectLst/>
              <a:latin typeface="Google Sans Tex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Google Sans Text"/>
              </a:rPr>
              <a:t>Captures frames in real-time.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Google Sans Text"/>
              </a:rPr>
              <a:t>Applies </a:t>
            </a:r>
            <a:r>
              <a:rPr kumimoji="0" lang="en-US" altLang="en-US" sz="2400" i="0" u="none" strike="noStrike" cap="none" normalizeH="0" baseline="0" dirty="0">
                <a:ln>
                  <a:noFill/>
                </a:ln>
                <a:solidFill>
                  <a:schemeClr val="tx1"/>
                </a:solidFill>
                <a:effectLst/>
                <a:latin typeface="Google Sans Text"/>
              </a:rPr>
              <a:t>Color/Contour Detection </a:t>
            </a:r>
            <a:r>
              <a:rPr kumimoji="0" lang="en-US" altLang="en-US" sz="2400" b="0" i="0" u="none" strike="noStrike" cap="none" normalizeH="0" baseline="0" dirty="0">
                <a:ln>
                  <a:noFill/>
                </a:ln>
                <a:solidFill>
                  <a:schemeClr val="tx1"/>
                </a:solidFill>
                <a:effectLst/>
                <a:latin typeface="Google Sans Text"/>
              </a:rPr>
              <a:t>(or ML Model) to find metal objects.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solidFill>
                <a:schemeClr val="tx1"/>
              </a:solidFill>
              <a:effectLst/>
              <a:latin typeface="Google Sans Text"/>
            </a:endParaRP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Google Sans Text"/>
              </a:rPr>
              <a:t>Data Extraction:</a:t>
            </a:r>
            <a:endParaRPr kumimoji="0" lang="en-US" altLang="en-US" sz="2400" b="0" i="0" u="none" strike="noStrike" cap="none" normalizeH="0" baseline="0" dirty="0">
              <a:ln>
                <a:noFill/>
              </a:ln>
              <a:solidFill>
                <a:schemeClr val="tx1"/>
              </a:solidFill>
              <a:effectLst/>
              <a:latin typeface="Google Sans Tex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Google Sans Text"/>
              </a:rPr>
              <a:t>Identifies Object Center (u, v) in pixels.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Google Sans Text"/>
              </a:rPr>
              <a:t>Maps pixels to Real-World Coordinates (x, y) using a calibration factor.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Google Sans Text"/>
              </a:rPr>
              <a:t>Sends coordinates to the Kinematics Engine.</a:t>
            </a:r>
          </a:p>
        </p:txBody>
      </p:sp>
    </p:spTree>
    <p:extLst>
      <p:ext uri="{BB962C8B-B14F-4D97-AF65-F5344CB8AC3E}">
        <p14:creationId xmlns:p14="http://schemas.microsoft.com/office/powerpoint/2010/main" val="2362283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EE52E-6C59-1EF4-0A08-DAC875CCF89A}"/>
              </a:ext>
            </a:extLst>
          </p:cNvPr>
          <p:cNvSpPr>
            <a:spLocks noGrp="1"/>
          </p:cNvSpPr>
          <p:nvPr>
            <p:ph type="title"/>
          </p:nvPr>
        </p:nvSpPr>
        <p:spPr/>
        <p:txBody>
          <a:bodyPr/>
          <a:lstStyle/>
          <a:p>
            <a:r>
              <a:rPr lang="en-US" b="1">
                <a:ea typeface="+mj-lt"/>
                <a:cs typeface="+mj-lt"/>
              </a:rPr>
              <a:t>Methodology</a:t>
            </a:r>
            <a:endParaRPr lang="en-US" b="1"/>
          </a:p>
        </p:txBody>
      </p:sp>
      <p:sp>
        <p:nvSpPr>
          <p:cNvPr id="3" name="TextBox 2">
            <a:extLst>
              <a:ext uri="{FF2B5EF4-FFF2-40B4-BE49-F238E27FC236}">
                <a16:creationId xmlns:a16="http://schemas.microsoft.com/office/drawing/2014/main" id="{11EFE5B7-AE7C-28B0-3598-294216CA81A4}"/>
              </a:ext>
            </a:extLst>
          </p:cNvPr>
          <p:cNvSpPr txBox="1"/>
          <p:nvPr/>
        </p:nvSpPr>
        <p:spPr>
          <a:xfrm>
            <a:off x="841169" y="1687286"/>
            <a:ext cx="9529948" cy="40626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a:latin typeface="Google Sans Text"/>
              <a:ea typeface="Google Sans Text"/>
              <a:cs typeface="Google Sans Text"/>
            </a:endParaRPr>
          </a:p>
          <a:p>
            <a:r>
              <a:rPr lang="en-US" sz="2000" b="1">
                <a:latin typeface="Google Sans Text"/>
                <a:ea typeface="Google Sans Text"/>
                <a:cs typeface="Google Sans Text"/>
              </a:rPr>
              <a:t>Forward Kinematics (FK):</a:t>
            </a:r>
          </a:p>
          <a:p>
            <a:pPr marL="228600" indent="-228600">
              <a:buFont typeface=""/>
              <a:buChar char="•"/>
            </a:pPr>
            <a:r>
              <a:rPr lang="en-US" sz="2000">
                <a:latin typeface="Google Sans Text"/>
                <a:ea typeface="Google Sans Text"/>
                <a:cs typeface="Google Sans Text"/>
              </a:rPr>
              <a:t>We use FK to calculate the exact position (x, y, z) of the Electromagnet if we know the current angles of the motors. By using </a:t>
            </a:r>
            <a:r>
              <a:rPr lang="en-US" sz="2000" err="1">
                <a:latin typeface="Google Sans Text"/>
                <a:ea typeface="Google Sans Text"/>
                <a:cs typeface="Google Sans Text"/>
              </a:rPr>
              <a:t>Denavit-Hartenberg</a:t>
            </a:r>
            <a:r>
              <a:rPr lang="en-US" sz="2000">
                <a:latin typeface="Google Sans Text"/>
                <a:ea typeface="Google Sans Text"/>
                <a:cs typeface="Google Sans Text"/>
              </a:rPr>
              <a:t>  parameters, we multiply the transformation matrices of each link to find the end-effector's pose. This helps us ensure the robot stays within its safe workspace.</a:t>
            </a:r>
          </a:p>
          <a:p>
            <a:pPr marL="228600" indent="-228600">
              <a:buFont typeface=""/>
              <a:buChar char="•"/>
            </a:pPr>
            <a:endParaRPr lang="en-US" sz="2000">
              <a:latin typeface="Google Sans Text"/>
              <a:ea typeface="Google Sans Text"/>
              <a:cs typeface="Google Sans Text"/>
            </a:endParaRPr>
          </a:p>
          <a:p>
            <a:r>
              <a:rPr lang="en-US" sz="2000" b="1">
                <a:latin typeface="Google Sans Text"/>
                <a:ea typeface="Google Sans Text"/>
                <a:cs typeface="Google Sans Text"/>
              </a:rPr>
              <a:t>Inverse Kinematics (IK):</a:t>
            </a:r>
          </a:p>
          <a:p>
            <a:pPr marL="228600" indent="-228600">
              <a:buFont typeface=""/>
              <a:buChar char="•"/>
            </a:pPr>
            <a:r>
              <a:rPr lang="en-US" sz="2000">
                <a:latin typeface="Google Sans Text"/>
                <a:ea typeface="Google Sans Text"/>
                <a:cs typeface="Google Sans Text"/>
              </a:rPr>
              <a:t>This is our control strategy. Since the camera gives us the location of the scrap (x, y, z), we need to calculate what angles the motors need to turn to reach that spot. We are using a Geometric Approach (using trigonometry/cosine rule) rather than a numerical one, as it is faster for the Raspberry Pi to compute in real-time.</a:t>
            </a:r>
          </a:p>
          <a:p>
            <a:pPr algn="ctr"/>
            <a:endParaRPr lang="en-US"/>
          </a:p>
        </p:txBody>
      </p:sp>
    </p:spTree>
    <p:extLst>
      <p:ext uri="{BB962C8B-B14F-4D97-AF65-F5344CB8AC3E}">
        <p14:creationId xmlns:p14="http://schemas.microsoft.com/office/powerpoint/2010/main" val="55503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9DD50-6A23-9E6D-5860-E1CDD49C7162}"/>
              </a:ext>
            </a:extLst>
          </p:cNvPr>
          <p:cNvSpPr>
            <a:spLocks noGrp="1"/>
          </p:cNvSpPr>
          <p:nvPr>
            <p:ph type="title"/>
          </p:nvPr>
        </p:nvSpPr>
        <p:spPr/>
        <p:txBody>
          <a:bodyPr/>
          <a:lstStyle/>
          <a:p>
            <a:r>
              <a:rPr lang="en-US" b="1" dirty="0"/>
              <a:t>METHODOLOGY</a:t>
            </a:r>
            <a:endParaRPr lang="en-IN" b="1" dirty="0"/>
          </a:p>
        </p:txBody>
      </p:sp>
      <p:sp>
        <p:nvSpPr>
          <p:cNvPr id="7" name="TextBox 6">
            <a:extLst>
              <a:ext uri="{FF2B5EF4-FFF2-40B4-BE49-F238E27FC236}">
                <a16:creationId xmlns:a16="http://schemas.microsoft.com/office/drawing/2014/main" id="{15535925-545B-DF62-3854-ACC964814056}"/>
              </a:ext>
            </a:extLst>
          </p:cNvPr>
          <p:cNvSpPr txBox="1"/>
          <p:nvPr/>
        </p:nvSpPr>
        <p:spPr>
          <a:xfrm>
            <a:off x="838199" y="1859339"/>
            <a:ext cx="10515600" cy="267765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Google Sans Text"/>
              </a:rPr>
              <a:t>Image Capture:</a:t>
            </a:r>
            <a:r>
              <a:rPr kumimoji="0" lang="en-US" altLang="en-US" sz="2400" b="0" i="0" u="none" strike="noStrike" cap="none" normalizeH="0" baseline="0" dirty="0">
                <a:ln>
                  <a:noFill/>
                </a:ln>
                <a:solidFill>
                  <a:schemeClr val="tx1"/>
                </a:solidFill>
                <a:effectLst/>
                <a:latin typeface="Google Sans Text"/>
              </a:rPr>
              <a:t> Capture real-time video of the workspace using the Pi Camera.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Google Sans Text"/>
              </a:rPr>
              <a:t>Preprocessing:</a:t>
            </a:r>
            <a:r>
              <a:rPr kumimoji="0" lang="en-US" altLang="en-US" sz="2400" b="0" i="0" u="none" strike="noStrike" cap="none" normalizeH="0" baseline="0" dirty="0">
                <a:ln>
                  <a:noFill/>
                </a:ln>
                <a:solidFill>
                  <a:schemeClr val="tx1"/>
                </a:solidFill>
                <a:effectLst/>
                <a:latin typeface="Google Sans Text"/>
              </a:rPr>
              <a:t> Convert RGB images to Grayscale/HSV for efficient 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Google Sans Text"/>
              </a:rPr>
              <a:t>Object Detection:</a:t>
            </a:r>
            <a:r>
              <a:rPr kumimoji="0" lang="en-US" altLang="en-US" sz="2400" b="0" i="0" u="none" strike="noStrike" cap="none" normalizeH="0" baseline="0" dirty="0">
                <a:ln>
                  <a:noFill/>
                </a:ln>
                <a:solidFill>
                  <a:schemeClr val="tx1"/>
                </a:solidFill>
                <a:effectLst/>
                <a:latin typeface="Google Sans Text"/>
              </a:rPr>
              <a:t> Identify ferrous scrap contours using OpenCV techniques.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Google Sans Text"/>
              </a:rPr>
              <a:t>Coordinate Mapping:</a:t>
            </a:r>
            <a:r>
              <a:rPr kumimoji="0" lang="en-US" altLang="en-US" sz="2400" b="0" i="0" u="none" strike="noStrike" cap="none" normalizeH="0" baseline="0" dirty="0">
                <a:ln>
                  <a:noFill/>
                </a:ln>
                <a:solidFill>
                  <a:schemeClr val="tx1"/>
                </a:solidFill>
                <a:effectLst/>
                <a:latin typeface="Google Sans Text"/>
              </a:rPr>
              <a:t> Convert pixel centroid (u, v) to physical target coordinates (x, y, z).</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Google Sans Text"/>
              </a:rPr>
              <a:t>Path Planning:</a:t>
            </a:r>
            <a:r>
              <a:rPr kumimoji="0" lang="en-US" altLang="en-US" sz="2400" b="0" i="0" u="none" strike="noStrike" cap="none" normalizeH="0" baseline="0" dirty="0">
                <a:ln>
                  <a:noFill/>
                </a:ln>
                <a:solidFill>
                  <a:schemeClr val="tx1"/>
                </a:solidFill>
                <a:effectLst/>
                <a:latin typeface="Google Sans Text"/>
              </a:rPr>
              <a:t> Calculate joint angles using Inverse Kinematics.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Google Sans Text"/>
              </a:rPr>
              <a:t>Execution:</a:t>
            </a:r>
            <a:r>
              <a:rPr kumimoji="0" lang="en-US" altLang="en-US" sz="2400" b="0" i="0" u="none" strike="noStrike" cap="none" normalizeH="0" baseline="0" dirty="0">
                <a:ln>
                  <a:noFill/>
                </a:ln>
                <a:solidFill>
                  <a:schemeClr val="tx1"/>
                </a:solidFill>
                <a:effectLst/>
                <a:latin typeface="Google Sans Text"/>
              </a:rPr>
              <a:t> Move arm to target </a:t>
            </a:r>
            <a:r>
              <a:rPr lang="en-US" altLang="en-US" sz="2400" dirty="0">
                <a:latin typeface="Google Sans Text"/>
                <a:sym typeface="Wingdings" panose="05000000000000000000" pitchFamily="2" charset="2"/>
              </a:rPr>
              <a:t></a:t>
            </a:r>
            <a:r>
              <a:rPr kumimoji="0" lang="en-US" altLang="en-US" sz="2400" b="0" i="0" u="none" strike="noStrike" cap="none" normalizeH="0" baseline="0" dirty="0">
                <a:ln>
                  <a:noFill/>
                </a:ln>
                <a:solidFill>
                  <a:schemeClr val="tx1"/>
                </a:solidFill>
                <a:effectLst/>
                <a:latin typeface="Google Sans Text"/>
              </a:rPr>
              <a:t> Activate Magnet </a:t>
            </a:r>
            <a:r>
              <a:rPr lang="en-US" altLang="en-US" sz="2400" dirty="0">
                <a:latin typeface="Google Sans Text"/>
                <a:sym typeface="Wingdings" panose="05000000000000000000" pitchFamily="2" charset="2"/>
              </a:rPr>
              <a:t></a:t>
            </a:r>
            <a:r>
              <a:rPr kumimoji="0" lang="en-US" altLang="en-US" sz="2400" b="0" i="0" u="none" strike="noStrike" cap="none" normalizeH="0" baseline="0" dirty="0">
                <a:ln>
                  <a:noFill/>
                </a:ln>
                <a:solidFill>
                  <a:schemeClr val="tx1"/>
                </a:solidFill>
                <a:effectLst/>
                <a:latin typeface="Google Sans Text"/>
              </a:rPr>
              <a:t> Transport to Bin.</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4426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50525-A12A-C525-0709-3F7D33D1D918}"/>
              </a:ext>
            </a:extLst>
          </p:cNvPr>
          <p:cNvSpPr>
            <a:spLocks noGrp="1"/>
          </p:cNvSpPr>
          <p:nvPr>
            <p:ph type="title"/>
          </p:nvPr>
        </p:nvSpPr>
        <p:spPr>
          <a:xfrm>
            <a:off x="737616" y="-101219"/>
            <a:ext cx="10515600" cy="1325563"/>
          </a:xfrm>
        </p:spPr>
        <p:txBody>
          <a:bodyPr/>
          <a:lstStyle/>
          <a:p>
            <a:r>
              <a:rPr lang="en-US" b="1" dirty="0"/>
              <a:t>METHODOLOGY</a:t>
            </a:r>
            <a:endParaRPr lang="en-IN" b="1" dirty="0"/>
          </a:p>
        </p:txBody>
      </p:sp>
      <p:sp>
        <p:nvSpPr>
          <p:cNvPr id="5" name="TextBox 4">
            <a:extLst>
              <a:ext uri="{FF2B5EF4-FFF2-40B4-BE49-F238E27FC236}">
                <a16:creationId xmlns:a16="http://schemas.microsoft.com/office/drawing/2014/main" id="{D4FA5414-0EF6-0C8F-86AB-D53399B47B0B}"/>
              </a:ext>
            </a:extLst>
          </p:cNvPr>
          <p:cNvSpPr txBox="1"/>
          <p:nvPr/>
        </p:nvSpPr>
        <p:spPr>
          <a:xfrm>
            <a:off x="737616" y="854053"/>
            <a:ext cx="10792968" cy="5632311"/>
          </a:xfrm>
          <a:prstGeom prst="rect">
            <a:avLst/>
          </a:prstGeom>
          <a:noFill/>
        </p:spPr>
        <p:txBody>
          <a:bodyPr wrap="square">
            <a:spAutoFit/>
          </a:bodyPr>
          <a:lstStyle/>
          <a:p>
            <a:pPr lvl="0" eaLnBrk="0" fontAlgn="base" hangingPunct="0">
              <a:spcBef>
                <a:spcPct val="0"/>
              </a:spcBef>
              <a:spcAft>
                <a:spcPct val="0"/>
              </a:spcAft>
              <a:buFontTx/>
              <a:buChar char="•"/>
            </a:pPr>
            <a:r>
              <a:rPr lang="en-US" altLang="en-US" dirty="0">
                <a:latin typeface="Google Sans Text"/>
              </a:rPr>
              <a:t>Base Angle (theta1):</a:t>
            </a:r>
          </a:p>
          <a:p>
            <a:pPr lvl="0" eaLnBrk="0" fontAlgn="base" hangingPunct="0">
              <a:spcBef>
                <a:spcPct val="0"/>
              </a:spcBef>
              <a:spcAft>
                <a:spcPct val="0"/>
              </a:spcAft>
              <a:buFontTx/>
              <a:buChar char="•"/>
            </a:pPr>
            <a:endParaRPr lang="en-US" altLang="en-US" dirty="0">
              <a:latin typeface="Google Sans Text"/>
            </a:endParaRPr>
          </a:p>
          <a:p>
            <a:pPr lvl="0" eaLnBrk="0" fontAlgn="base" hangingPunct="0">
              <a:spcBef>
                <a:spcPct val="0"/>
              </a:spcBef>
              <a:spcAft>
                <a:spcPct val="0"/>
              </a:spcAft>
              <a:buFontTx/>
              <a:buChar char="•"/>
            </a:pPr>
            <a:endParaRPr lang="en-US" altLang="en-US" dirty="0">
              <a:latin typeface="Google Sans Text"/>
            </a:endParaRPr>
          </a:p>
          <a:p>
            <a:pPr lvl="0" eaLnBrk="0" fontAlgn="base" hangingPunct="0">
              <a:spcBef>
                <a:spcPct val="0"/>
              </a:spcBef>
              <a:spcAft>
                <a:spcPct val="0"/>
              </a:spcAft>
              <a:buFontTx/>
              <a:buChar char="•"/>
            </a:pPr>
            <a:endParaRPr lang="en-US" altLang="en-US" dirty="0">
              <a:latin typeface="Google Sans Text"/>
            </a:endParaRPr>
          </a:p>
          <a:p>
            <a:pPr lvl="0" eaLnBrk="0" fontAlgn="base" hangingPunct="0">
              <a:spcBef>
                <a:spcPct val="0"/>
              </a:spcBef>
              <a:spcAft>
                <a:spcPct val="0"/>
              </a:spcAft>
              <a:buFontTx/>
              <a:buChar char="•"/>
            </a:pPr>
            <a:r>
              <a:rPr lang="en-US" altLang="en-US" dirty="0">
                <a:latin typeface="Google Sans Text"/>
              </a:rPr>
              <a:t>Reach Distance (r):</a:t>
            </a:r>
          </a:p>
          <a:p>
            <a:pPr lvl="0" eaLnBrk="0" fontAlgn="base" hangingPunct="0">
              <a:spcBef>
                <a:spcPct val="0"/>
              </a:spcBef>
              <a:spcAft>
                <a:spcPct val="0"/>
              </a:spcAft>
              <a:buFontTx/>
              <a:buChar char="•"/>
            </a:pPr>
            <a:endParaRPr lang="en-US" altLang="en-US" dirty="0">
              <a:latin typeface="Google Sans Text"/>
            </a:endParaRPr>
          </a:p>
          <a:p>
            <a:pPr lvl="0" eaLnBrk="0" fontAlgn="base" hangingPunct="0">
              <a:spcBef>
                <a:spcPct val="0"/>
              </a:spcBef>
              <a:spcAft>
                <a:spcPct val="0"/>
              </a:spcAft>
              <a:buFontTx/>
              <a:buChar char="•"/>
            </a:pPr>
            <a:endParaRPr lang="en-US" altLang="en-US" dirty="0">
              <a:latin typeface="Google Sans Text"/>
            </a:endParaRPr>
          </a:p>
          <a:p>
            <a:pPr lvl="0" eaLnBrk="0" fontAlgn="base" hangingPunct="0">
              <a:spcBef>
                <a:spcPct val="0"/>
              </a:spcBef>
              <a:spcAft>
                <a:spcPct val="0"/>
              </a:spcAft>
            </a:pPr>
            <a:endParaRPr lang="en-US" altLang="en-US" dirty="0">
              <a:latin typeface="Google Sans Text"/>
            </a:endParaRPr>
          </a:p>
          <a:p>
            <a:pPr lvl="0" eaLnBrk="0" fontAlgn="base" hangingPunct="0">
              <a:spcBef>
                <a:spcPct val="0"/>
              </a:spcBef>
              <a:spcAft>
                <a:spcPct val="0"/>
              </a:spcAft>
              <a:buFontTx/>
              <a:buChar char="•"/>
            </a:pPr>
            <a:r>
              <a:rPr lang="en-US" altLang="en-US" dirty="0">
                <a:latin typeface="Google Sans Text"/>
              </a:rPr>
              <a:t>Elbow Angle (theta3) - Cosine Rule:</a:t>
            </a:r>
          </a:p>
          <a:p>
            <a:pPr lvl="0" eaLnBrk="0" fontAlgn="base" hangingPunct="0">
              <a:spcBef>
                <a:spcPct val="0"/>
              </a:spcBef>
              <a:spcAft>
                <a:spcPct val="0"/>
              </a:spcAft>
              <a:buFontTx/>
              <a:buChar char="•"/>
            </a:pPr>
            <a:endParaRPr lang="en-US" altLang="en-US" dirty="0">
              <a:latin typeface="Google Sans Text"/>
            </a:endParaRPr>
          </a:p>
          <a:p>
            <a:pPr lvl="0" eaLnBrk="0" fontAlgn="base" hangingPunct="0">
              <a:spcBef>
                <a:spcPct val="0"/>
              </a:spcBef>
              <a:spcAft>
                <a:spcPct val="0"/>
              </a:spcAft>
              <a:buFontTx/>
              <a:buChar char="•"/>
            </a:pPr>
            <a:endParaRPr lang="en-US" altLang="en-US" dirty="0">
              <a:latin typeface="Google Sans Text"/>
            </a:endParaRPr>
          </a:p>
          <a:p>
            <a:pPr lvl="0" eaLnBrk="0" fontAlgn="base" hangingPunct="0">
              <a:spcBef>
                <a:spcPct val="0"/>
              </a:spcBef>
              <a:spcAft>
                <a:spcPct val="0"/>
              </a:spcAft>
              <a:buFontTx/>
              <a:buChar char="•"/>
            </a:pPr>
            <a:endParaRPr lang="en-US" altLang="en-US" dirty="0">
              <a:latin typeface="Google Sans Text"/>
            </a:endParaRPr>
          </a:p>
          <a:p>
            <a:pPr lvl="0" eaLnBrk="0" fontAlgn="base" hangingPunct="0">
              <a:spcBef>
                <a:spcPct val="0"/>
              </a:spcBef>
              <a:spcAft>
                <a:spcPct val="0"/>
              </a:spcAft>
              <a:buFontTx/>
              <a:buChar char="•"/>
            </a:pPr>
            <a:endParaRPr lang="en-US" altLang="en-US" dirty="0">
              <a:latin typeface="Google Sans Text"/>
            </a:endParaRPr>
          </a:p>
          <a:p>
            <a:pPr lvl="0" eaLnBrk="0" fontAlgn="base" hangingPunct="0">
              <a:spcBef>
                <a:spcPct val="0"/>
              </a:spcBef>
              <a:spcAft>
                <a:spcPct val="0"/>
              </a:spcAft>
              <a:buFontTx/>
              <a:buChar char="•"/>
            </a:pPr>
            <a:r>
              <a:rPr lang="en-US" altLang="en-US" dirty="0">
                <a:latin typeface="Google Sans Text"/>
              </a:rPr>
              <a:t>Shoulder Angle (theta2):</a:t>
            </a:r>
          </a:p>
          <a:p>
            <a:pPr lvl="0" eaLnBrk="0" fontAlgn="base" hangingPunct="0">
              <a:spcBef>
                <a:spcPct val="0"/>
              </a:spcBef>
              <a:spcAft>
                <a:spcPct val="0"/>
              </a:spcAft>
              <a:buFontTx/>
              <a:buChar char="•"/>
            </a:pPr>
            <a:endParaRPr lang="en-US" altLang="en-US" dirty="0">
              <a:latin typeface="Google Sans Text"/>
            </a:endParaRPr>
          </a:p>
          <a:p>
            <a:pPr lvl="0" eaLnBrk="0" fontAlgn="base" hangingPunct="0">
              <a:spcBef>
                <a:spcPct val="0"/>
              </a:spcBef>
              <a:spcAft>
                <a:spcPct val="0"/>
              </a:spcAft>
              <a:buFontTx/>
              <a:buChar char="•"/>
            </a:pPr>
            <a:endParaRPr lang="en-US" altLang="en-US" dirty="0">
              <a:latin typeface="Google Sans Text"/>
            </a:endParaRPr>
          </a:p>
          <a:p>
            <a:pPr lvl="0" eaLnBrk="0" fontAlgn="base" hangingPunct="0">
              <a:spcBef>
                <a:spcPct val="0"/>
              </a:spcBef>
              <a:spcAft>
                <a:spcPct val="0"/>
              </a:spcAft>
              <a:buFontTx/>
              <a:buChar char="•"/>
            </a:pPr>
            <a:endParaRPr lang="en-US" altLang="en-US" dirty="0">
              <a:latin typeface="Google Sans Text"/>
            </a:endParaRPr>
          </a:p>
          <a:p>
            <a:pPr lvl="0" eaLnBrk="0" fontAlgn="base" hangingPunct="0">
              <a:spcBef>
                <a:spcPct val="0"/>
              </a:spcBef>
              <a:spcAft>
                <a:spcPct val="0"/>
              </a:spcAft>
              <a:buFontTx/>
              <a:buChar char="•"/>
            </a:pPr>
            <a:endParaRPr lang="en-US" altLang="en-US" dirty="0">
              <a:latin typeface="Google Sans Text"/>
            </a:endParaRPr>
          </a:p>
          <a:p>
            <a:pPr lvl="0" eaLnBrk="0" fontAlgn="base" hangingPunct="0">
              <a:spcBef>
                <a:spcPct val="0"/>
              </a:spcBef>
              <a:spcAft>
                <a:spcPct val="0"/>
              </a:spcAft>
            </a:pPr>
            <a:r>
              <a:rPr lang="en-US" altLang="en-US" dirty="0">
                <a:latin typeface="Google Sans Text"/>
              </a:rPr>
              <a:t>(Where L2, L3 are link lengths of the arm)</a:t>
            </a: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p:txBody>
      </p:sp>
      <p:pic>
        <p:nvPicPr>
          <p:cNvPr id="8" name="Picture 7">
            <a:extLst>
              <a:ext uri="{FF2B5EF4-FFF2-40B4-BE49-F238E27FC236}">
                <a16:creationId xmlns:a16="http://schemas.microsoft.com/office/drawing/2014/main" id="{1269E3A6-B527-68F5-5B67-896BF88832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1584" y="1224344"/>
            <a:ext cx="6249272" cy="676369"/>
          </a:xfrm>
          <a:prstGeom prst="rect">
            <a:avLst/>
          </a:prstGeom>
        </p:spPr>
      </p:pic>
      <p:pic>
        <p:nvPicPr>
          <p:cNvPr id="10" name="Picture 9">
            <a:extLst>
              <a:ext uri="{FF2B5EF4-FFF2-40B4-BE49-F238E27FC236}">
                <a16:creationId xmlns:a16="http://schemas.microsoft.com/office/drawing/2014/main" id="{C4E3AA11-D734-2472-5231-80C7C2627A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1584" y="2272585"/>
            <a:ext cx="5287113" cy="638264"/>
          </a:xfrm>
          <a:prstGeom prst="rect">
            <a:avLst/>
          </a:prstGeom>
        </p:spPr>
      </p:pic>
      <p:pic>
        <p:nvPicPr>
          <p:cNvPr id="12" name="Picture 11">
            <a:extLst>
              <a:ext uri="{FF2B5EF4-FFF2-40B4-BE49-F238E27FC236}">
                <a16:creationId xmlns:a16="http://schemas.microsoft.com/office/drawing/2014/main" id="{9E496300-402C-710E-4181-22A13120D2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01584" y="3351699"/>
            <a:ext cx="6011114" cy="1028844"/>
          </a:xfrm>
          <a:prstGeom prst="rect">
            <a:avLst/>
          </a:prstGeom>
        </p:spPr>
      </p:pic>
      <p:pic>
        <p:nvPicPr>
          <p:cNvPr id="14" name="Picture 13">
            <a:extLst>
              <a:ext uri="{FF2B5EF4-FFF2-40B4-BE49-F238E27FC236}">
                <a16:creationId xmlns:a16="http://schemas.microsoft.com/office/drawing/2014/main" id="{5BA4937E-97E6-2EC2-4435-348B0B08CE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01584" y="4821393"/>
            <a:ext cx="5792008" cy="1009791"/>
          </a:xfrm>
          <a:prstGeom prst="rect">
            <a:avLst/>
          </a:prstGeom>
        </p:spPr>
      </p:pic>
    </p:spTree>
    <p:extLst>
      <p:ext uri="{BB962C8B-B14F-4D97-AF65-F5344CB8AC3E}">
        <p14:creationId xmlns:p14="http://schemas.microsoft.com/office/powerpoint/2010/main" val="1563809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295D3-F8BE-1741-62B2-1C459E67C272}"/>
              </a:ext>
            </a:extLst>
          </p:cNvPr>
          <p:cNvSpPr>
            <a:spLocks noGrp="1"/>
          </p:cNvSpPr>
          <p:nvPr>
            <p:ph type="title"/>
          </p:nvPr>
        </p:nvSpPr>
        <p:spPr/>
        <p:txBody>
          <a:bodyPr/>
          <a:lstStyle/>
          <a:p>
            <a:r>
              <a:rPr lang="en-IN" b="1" dirty="0"/>
              <a:t>EXECUTION LOGIC</a:t>
            </a:r>
            <a:endParaRPr lang="en-IN" dirty="0"/>
          </a:p>
        </p:txBody>
      </p:sp>
      <p:sp>
        <p:nvSpPr>
          <p:cNvPr id="11" name="TextBox 10">
            <a:extLst>
              <a:ext uri="{FF2B5EF4-FFF2-40B4-BE49-F238E27FC236}">
                <a16:creationId xmlns:a16="http://schemas.microsoft.com/office/drawing/2014/main" id="{8C96564B-DA7F-629E-1593-C14B83061071}"/>
              </a:ext>
            </a:extLst>
          </p:cNvPr>
          <p:cNvSpPr txBox="1"/>
          <p:nvPr/>
        </p:nvSpPr>
        <p:spPr>
          <a:xfrm>
            <a:off x="838200" y="1980254"/>
            <a:ext cx="10345615" cy="3416320"/>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Google Sans Text"/>
              </a:rPr>
              <a:t>Verify Position: Use Forward Kinematics (FK) to ensure target is within workspace limits.</a:t>
            </a: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Google Sans Text"/>
              </a:rPr>
              <a:t>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solidFill>
                <a:schemeClr val="tx1"/>
              </a:solidFill>
              <a:effectLst/>
              <a:latin typeface="Google Sans Tex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Transmit:</a:t>
            </a:r>
            <a:r>
              <a:rPr kumimoji="0" lang="en-US" altLang="en-US" sz="2400" b="0" i="0" u="none" strike="noStrike" cap="none" normalizeH="0" baseline="0" dirty="0">
                <a:ln>
                  <a:noFill/>
                </a:ln>
                <a:solidFill>
                  <a:schemeClr val="tx1"/>
                </a:solidFill>
                <a:effectLst/>
                <a:latin typeface="Google Sans Text"/>
              </a:rPr>
              <a:t> Send calculated angles to PCA9685 via I2C bus.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Drive:</a:t>
            </a:r>
            <a:r>
              <a:rPr kumimoji="0" lang="en-US" altLang="en-US" sz="2400" b="0" i="0" u="none" strike="noStrike" cap="none" normalizeH="0" baseline="0" dirty="0">
                <a:ln>
                  <a:noFill/>
                </a:ln>
                <a:solidFill>
                  <a:schemeClr val="tx1"/>
                </a:solidFill>
                <a:effectLst/>
                <a:latin typeface="Google Sans Text"/>
              </a:rPr>
              <a:t> Servos move to the "Pick" position.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Actuate:</a:t>
            </a:r>
            <a:r>
              <a:rPr kumimoji="0" lang="en-US" altLang="en-US" sz="2400" b="0" i="0" u="none" strike="noStrike" cap="none" normalizeH="0" baseline="0" dirty="0">
                <a:ln>
                  <a:noFill/>
                </a:ln>
                <a:solidFill>
                  <a:schemeClr val="tx1"/>
                </a:solidFill>
                <a:effectLst/>
                <a:latin typeface="Google Sans Text"/>
              </a:rPr>
              <a:t> Trigger Relay (GPIO 17 HIGH) to energize Electromagnet.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Transport:</a:t>
            </a:r>
            <a:r>
              <a:rPr kumimoji="0" lang="en-US" altLang="en-US" sz="2400" b="0" i="0" u="none" strike="noStrike" cap="none" normalizeH="0" baseline="0" dirty="0">
                <a:ln>
                  <a:noFill/>
                </a:ln>
                <a:solidFill>
                  <a:schemeClr val="tx1"/>
                </a:solidFill>
                <a:effectLst/>
                <a:latin typeface="Google Sans Text"/>
              </a:rPr>
              <a:t> Move to "Drop" coordinates.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Release:</a:t>
            </a:r>
            <a:r>
              <a:rPr kumimoji="0" lang="en-US" altLang="en-US" sz="2400" b="0" i="0" u="none" strike="noStrike" cap="none" normalizeH="0" baseline="0" dirty="0">
                <a:ln>
                  <a:noFill/>
                </a:ln>
                <a:solidFill>
                  <a:schemeClr val="tx1"/>
                </a:solidFill>
                <a:effectLst/>
                <a:latin typeface="Google Sans Text"/>
              </a:rPr>
              <a:t> Trigger Relay (GPIO 17 LOW) to drop scrap.</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47D5A295-144D-20CA-FB00-C35F6977B6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8325" y="2809789"/>
            <a:ext cx="5811061" cy="619211"/>
          </a:xfrm>
          <a:prstGeom prst="rect">
            <a:avLst/>
          </a:prstGeom>
        </p:spPr>
      </p:pic>
    </p:spTree>
    <p:extLst>
      <p:ext uri="{BB962C8B-B14F-4D97-AF65-F5344CB8AC3E}">
        <p14:creationId xmlns:p14="http://schemas.microsoft.com/office/powerpoint/2010/main" val="2949153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B3A8A-BED4-BE29-2B3B-22337480F72D}"/>
              </a:ext>
            </a:extLst>
          </p:cNvPr>
          <p:cNvSpPr>
            <a:spLocks noGrp="1"/>
          </p:cNvSpPr>
          <p:nvPr>
            <p:ph type="title"/>
          </p:nvPr>
        </p:nvSpPr>
        <p:spPr>
          <a:xfrm>
            <a:off x="772046" y="405318"/>
            <a:ext cx="10515600" cy="1325563"/>
          </a:xfrm>
        </p:spPr>
        <p:txBody>
          <a:bodyPr/>
          <a:lstStyle/>
          <a:p>
            <a:r>
              <a:rPr lang="en-IN" b="1" dirty="0"/>
              <a:t> HARDWARE IMPLEMENTATION</a:t>
            </a:r>
            <a:endParaRPr lang="en-IN" dirty="0"/>
          </a:p>
        </p:txBody>
      </p:sp>
      <p:sp>
        <p:nvSpPr>
          <p:cNvPr id="11" name="TextBox 10">
            <a:extLst>
              <a:ext uri="{FF2B5EF4-FFF2-40B4-BE49-F238E27FC236}">
                <a16:creationId xmlns:a16="http://schemas.microsoft.com/office/drawing/2014/main" id="{04252988-F950-7EBC-A9AE-D9531AE8195F}"/>
              </a:ext>
            </a:extLst>
          </p:cNvPr>
          <p:cNvSpPr txBox="1"/>
          <p:nvPr/>
        </p:nvSpPr>
        <p:spPr>
          <a:xfrm>
            <a:off x="838199" y="1877594"/>
            <a:ext cx="9411120" cy="4154984"/>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Processing Unit:</a:t>
            </a:r>
            <a:r>
              <a:rPr kumimoji="0" lang="en-US" altLang="en-US" sz="2400" b="0" i="0" u="none" strike="noStrike" cap="none" normalizeH="0" baseline="0" dirty="0">
                <a:ln>
                  <a:noFill/>
                </a:ln>
                <a:solidFill>
                  <a:schemeClr val="tx1"/>
                </a:solidFill>
                <a:effectLst/>
                <a:latin typeface="Google Sans Text"/>
              </a:rPr>
              <a:t> Raspberry Pi 5 Model B (</a:t>
            </a:r>
            <a:r>
              <a:rPr lang="en-US" altLang="en-US" sz="2400" dirty="0">
                <a:latin typeface="Google Sans Text"/>
              </a:rPr>
              <a:t>8</a:t>
            </a:r>
            <a:r>
              <a:rPr kumimoji="0" lang="en-US" altLang="en-US" sz="2400" b="0" i="0" u="none" strike="noStrike" cap="none" normalizeH="0" baseline="0" dirty="0">
                <a:ln>
                  <a:noFill/>
                </a:ln>
                <a:solidFill>
                  <a:schemeClr val="tx1"/>
                </a:solidFill>
                <a:effectLst/>
                <a:latin typeface="Google Sans Text"/>
              </a:rPr>
              <a:t>GB).</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solidFill>
                <a:schemeClr val="tx1"/>
              </a:solidFill>
              <a:effectLst/>
              <a:latin typeface="Google Sans Text"/>
            </a:endParaRP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Google Sans Text"/>
              </a:rPr>
              <a:t>Power Management:</a:t>
            </a:r>
            <a:endParaRPr kumimoji="0" lang="en-US" altLang="en-US" sz="2400" b="0" i="0" u="none" strike="noStrike" cap="none" normalizeH="0" baseline="0" dirty="0">
              <a:ln>
                <a:noFill/>
              </a:ln>
              <a:solidFill>
                <a:schemeClr val="tx1"/>
              </a:solidFill>
              <a:effectLst/>
              <a:latin typeface="Google Sans Tex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       Source:</a:t>
            </a:r>
            <a:r>
              <a:rPr kumimoji="0" lang="en-US" altLang="en-US" sz="2400" b="0" i="0" u="none" strike="noStrike" cap="none" normalizeH="0" baseline="0" dirty="0">
                <a:ln>
                  <a:noFill/>
                </a:ln>
                <a:solidFill>
                  <a:schemeClr val="tx1"/>
                </a:solidFill>
                <a:effectLst/>
                <a:latin typeface="Google Sans Text"/>
              </a:rPr>
              <a:t> 12V 2A DC Adapter.</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       Regulation:</a:t>
            </a:r>
            <a:r>
              <a:rPr kumimoji="0" lang="en-US" altLang="en-US" sz="2400" b="0" i="0" u="none" strike="noStrike" cap="none" normalizeH="0" baseline="0" dirty="0">
                <a:ln>
                  <a:noFill/>
                </a:ln>
                <a:solidFill>
                  <a:schemeClr val="tx1"/>
                </a:solidFill>
                <a:effectLst/>
                <a:latin typeface="Google Sans Text"/>
              </a:rPr>
              <a:t> LM2596 Buck Converter (12V </a:t>
            </a:r>
            <a:r>
              <a:rPr lang="en-US" altLang="en-US" sz="2400" dirty="0">
                <a:latin typeface="Google Sans Text"/>
                <a:sym typeface="Wingdings" panose="05000000000000000000" pitchFamily="2" charset="2"/>
              </a:rPr>
              <a:t></a:t>
            </a:r>
            <a:r>
              <a:rPr kumimoji="0" lang="en-US" altLang="en-US" sz="2400" b="0" i="0" u="none" strike="noStrike" cap="none" normalizeH="0" baseline="0" dirty="0">
                <a:ln>
                  <a:noFill/>
                </a:ln>
                <a:solidFill>
                  <a:schemeClr val="tx1"/>
                </a:solidFill>
                <a:effectLst/>
                <a:latin typeface="Google Sans Text"/>
              </a:rPr>
              <a:t> 6V for Servos).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       Isolation:</a:t>
            </a:r>
            <a:r>
              <a:rPr kumimoji="0" lang="en-US" altLang="en-US" sz="2400" b="0" i="0" u="none" strike="noStrike" cap="none" normalizeH="0" baseline="0" dirty="0">
                <a:ln>
                  <a:noFill/>
                </a:ln>
                <a:solidFill>
                  <a:schemeClr val="tx1"/>
                </a:solidFill>
                <a:effectLst/>
                <a:latin typeface="Google Sans Text"/>
              </a:rPr>
              <a:t> 5V Relay Module for Magnet.</a:t>
            </a:r>
            <a:endParaRPr lang="en-US" altLang="en-US" sz="2400" dirty="0">
              <a:latin typeface="Google Sans Tex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solidFill>
                <a:schemeClr val="tx1"/>
              </a:solidFill>
              <a:effectLst/>
              <a:latin typeface="Google Sans Text"/>
            </a:endParaRPr>
          </a:p>
          <a:p>
            <a:pPr marL="342900" lvl="0" indent="-342900" eaLnBrk="0" fontAlgn="base" hangingPunct="0">
              <a:spcBef>
                <a:spcPct val="0"/>
              </a:spcBef>
              <a:spcAft>
                <a:spcPct val="0"/>
              </a:spcAft>
              <a:buFont typeface="Wingdings" panose="05000000000000000000" pitchFamily="2" charset="2"/>
              <a:buChar char="Ø"/>
            </a:pPr>
            <a:r>
              <a:rPr kumimoji="0" lang="en-US" altLang="en-US" sz="2400" b="1" i="0" u="none" strike="noStrike" cap="none" normalizeH="0" baseline="0" dirty="0">
                <a:ln>
                  <a:noFill/>
                </a:ln>
                <a:solidFill>
                  <a:schemeClr val="tx1"/>
                </a:solidFill>
                <a:effectLst/>
                <a:latin typeface="Google Sans Text"/>
              </a:rPr>
              <a:t>Actuators:</a:t>
            </a:r>
            <a:r>
              <a:rPr kumimoji="0" lang="en-US" altLang="en-US" sz="2400" b="0" i="0" u="none" strike="noStrike" cap="none" normalizeH="0" baseline="0" dirty="0">
                <a:ln>
                  <a:noFill/>
                </a:ln>
                <a:solidFill>
                  <a:schemeClr val="tx1"/>
                </a:solidFill>
                <a:effectLst/>
                <a:latin typeface="Google Sans Text"/>
              </a:rPr>
              <a:t> </a:t>
            </a:r>
            <a:r>
              <a:rPr lang="en-US" altLang="en-US" sz="2400" dirty="0">
                <a:latin typeface="Google Sans Text"/>
              </a:rPr>
              <a:t>1xSG90 and 3xMG90S</a:t>
            </a:r>
            <a:r>
              <a:rPr kumimoji="0" lang="en-US" altLang="en-US" sz="2400" b="0" i="0" u="none" strike="noStrike" cap="none" normalizeH="0" baseline="0" dirty="0">
                <a:ln>
                  <a:noFill/>
                </a:ln>
                <a:solidFill>
                  <a:schemeClr val="tx1"/>
                </a:solidFill>
                <a:effectLst/>
                <a:latin typeface="Google Sans Text"/>
              </a:rPr>
              <a: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solidFill>
                <a:schemeClr val="tx1"/>
              </a:solidFill>
              <a:effectLst/>
              <a:latin typeface="Google Sans Tex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Google Sans Text"/>
              </a:rPr>
              <a:t>Integration:</a:t>
            </a:r>
            <a:r>
              <a:rPr kumimoji="0" lang="en-US" altLang="en-US" sz="2400" b="0" i="0" u="none" strike="noStrike" cap="none" normalizeH="0" baseline="0" dirty="0">
                <a:ln>
                  <a:noFill/>
                </a:ln>
                <a:solidFill>
                  <a:schemeClr val="tx1"/>
                </a:solidFill>
                <a:effectLst/>
                <a:latin typeface="Google Sans Text"/>
              </a:rPr>
              <a:t> Successful wiring of I2C Drivers, GPIO Relay, and Camera module</a:t>
            </a:r>
            <a:r>
              <a:rPr kumimoji="0" lang="en-US" altLang="en-US" sz="1800" b="0" i="0" u="none" strike="noStrike" cap="none" normalizeH="0" baseline="0" dirty="0">
                <a:ln>
                  <a:noFill/>
                </a:ln>
                <a:solidFill>
                  <a:schemeClr val="tx1"/>
                </a:solidFill>
                <a:effectLst/>
                <a:latin typeface="Google Sans Tex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88768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271B6-E21D-DBE7-BE5C-58DA87057299}"/>
              </a:ext>
            </a:extLst>
          </p:cNvPr>
          <p:cNvSpPr>
            <a:spLocks noGrp="1"/>
          </p:cNvSpPr>
          <p:nvPr>
            <p:ph type="title"/>
          </p:nvPr>
        </p:nvSpPr>
        <p:spPr/>
        <p:txBody>
          <a:bodyPr/>
          <a:lstStyle/>
          <a:p>
            <a:r>
              <a:rPr lang="en-US" b="1">
                <a:solidFill>
                  <a:srgbClr val="1F1F1F"/>
                </a:solidFill>
                <a:highlight>
                  <a:srgbClr val="FFFFFF"/>
                </a:highlight>
              </a:rPr>
              <a:t>Results &amp; Discussion</a:t>
            </a:r>
          </a:p>
          <a:p>
            <a:endParaRPr lang="en-US" sz="1200">
              <a:solidFill>
                <a:srgbClr val="1F1F1F"/>
              </a:solidFill>
              <a:highlight>
                <a:srgbClr val="FFFFFF"/>
              </a:highlight>
              <a:ea typeface="+mj-lt"/>
              <a:cs typeface="+mj-lt"/>
            </a:endParaRPr>
          </a:p>
        </p:txBody>
      </p:sp>
      <p:sp>
        <p:nvSpPr>
          <p:cNvPr id="3" name="TextBox 2">
            <a:extLst>
              <a:ext uri="{FF2B5EF4-FFF2-40B4-BE49-F238E27FC236}">
                <a16:creationId xmlns:a16="http://schemas.microsoft.com/office/drawing/2014/main" id="{314F480B-C7E7-52E5-B6E2-8EDC9AF3A451}"/>
              </a:ext>
            </a:extLst>
          </p:cNvPr>
          <p:cNvSpPr txBox="1"/>
          <p:nvPr/>
        </p:nvSpPr>
        <p:spPr>
          <a:xfrm>
            <a:off x="722416" y="1855519"/>
            <a:ext cx="10240336"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Completed Work:</a:t>
            </a:r>
            <a:endParaRPr lang="en-US" sz="2400" dirty="0"/>
          </a:p>
          <a:p>
            <a:pPr marL="742950" lvl="1" indent="-285750">
              <a:buFont typeface="Wingdings" panose="05000000000000000000" pitchFamily="2" charset="2"/>
              <a:buChar char="Ø"/>
            </a:pPr>
            <a:r>
              <a:rPr lang="en-US" sz="2400" dirty="0"/>
              <a:t>Mechanical assembly of 3-DOF Acrylic Arm.</a:t>
            </a:r>
          </a:p>
          <a:p>
            <a:pPr marL="742950" lvl="1" indent="-285750">
              <a:buFont typeface="Wingdings" panose="05000000000000000000" pitchFamily="2" charset="2"/>
              <a:buChar char="Ø"/>
            </a:pPr>
            <a:r>
              <a:rPr lang="en-US" sz="2400" dirty="0"/>
              <a:t>Power distribution system (Buck Converter &amp; Relay wiring) validated.</a:t>
            </a:r>
          </a:p>
          <a:p>
            <a:pPr marL="742950" lvl="1" indent="-285750">
              <a:buFont typeface="Wingdings" panose="05000000000000000000" pitchFamily="2" charset="2"/>
              <a:buChar char="Ø"/>
            </a:pPr>
            <a:r>
              <a:rPr lang="en-US" sz="2400" dirty="0"/>
              <a:t>Raspberry Pi OS setup and library installation (Adafruit </a:t>
            </a:r>
            <a:r>
              <a:rPr lang="en-US" sz="2400" dirty="0" err="1"/>
              <a:t>Servokit</a:t>
            </a:r>
            <a:r>
              <a:rPr lang="en-US" sz="2400" dirty="0"/>
              <a:t>).</a:t>
            </a:r>
          </a:p>
          <a:p>
            <a:pPr marL="742950" lvl="1" indent="-285750">
              <a:buFont typeface="Wingdings" panose="05000000000000000000" pitchFamily="2" charset="2"/>
              <a:buChar char="Ø"/>
            </a:pPr>
            <a:r>
              <a:rPr lang="en-US" sz="2400" dirty="0"/>
              <a:t>Basic servo motion tests (Sweep) successful.</a:t>
            </a:r>
          </a:p>
          <a:p>
            <a:r>
              <a:rPr lang="en-US" sz="2400" b="1" dirty="0"/>
              <a:t>Work in Progress:</a:t>
            </a:r>
            <a:endParaRPr lang="en-US" sz="2400" dirty="0"/>
          </a:p>
          <a:p>
            <a:pPr marL="742950" lvl="1" indent="-285750">
              <a:buFont typeface="Wingdings" panose="05000000000000000000" pitchFamily="2" charset="2"/>
              <a:buChar char="Ø"/>
            </a:pPr>
            <a:r>
              <a:rPr lang="en-US" sz="2400" dirty="0"/>
              <a:t>Integration of OpenCV for live object detection.</a:t>
            </a:r>
          </a:p>
          <a:p>
            <a:pPr marL="742950" lvl="1" indent="-285750">
              <a:buFont typeface="Wingdings" panose="05000000000000000000" pitchFamily="2" charset="2"/>
              <a:buChar char="Ø"/>
            </a:pPr>
            <a:r>
              <a:rPr lang="en-US" sz="2400" dirty="0"/>
              <a:t>Calibration of Inverse Kinematics for precise reaching.</a:t>
            </a:r>
          </a:p>
          <a:p>
            <a:pPr marL="742950" lvl="1" indent="-285750">
              <a:buFont typeface="Wingdings" panose="05000000000000000000" pitchFamily="2" charset="2"/>
              <a:buChar char="Ø"/>
            </a:pPr>
            <a:r>
              <a:rPr lang="en-US" sz="2400" dirty="0"/>
              <a:t>Final "Pick-and-Place" automation cycle testing.</a:t>
            </a:r>
          </a:p>
          <a:p>
            <a:pPr algn="ctr"/>
            <a:endParaRPr lang="en-US" dirty="0"/>
          </a:p>
        </p:txBody>
      </p:sp>
    </p:spTree>
    <p:extLst>
      <p:ext uri="{BB962C8B-B14F-4D97-AF65-F5344CB8AC3E}">
        <p14:creationId xmlns:p14="http://schemas.microsoft.com/office/powerpoint/2010/main" val="1988601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4CF2-F00A-FDAC-CB4F-8A146187C354}"/>
              </a:ext>
            </a:extLst>
          </p:cNvPr>
          <p:cNvSpPr>
            <a:spLocks noGrp="1"/>
          </p:cNvSpPr>
          <p:nvPr>
            <p:ph type="title"/>
          </p:nvPr>
        </p:nvSpPr>
        <p:spPr/>
        <p:txBody>
          <a:bodyPr/>
          <a:lstStyle/>
          <a:p>
            <a:r>
              <a:rPr lang="en-US" b="1">
                <a:solidFill>
                  <a:srgbClr val="1F1F1F"/>
                </a:solidFill>
                <a:highlight>
                  <a:srgbClr val="FFFFFF"/>
                </a:highlight>
              </a:rPr>
              <a:t>References</a:t>
            </a:r>
            <a:endParaRPr lang="en-US"/>
          </a:p>
        </p:txBody>
      </p:sp>
      <p:sp>
        <p:nvSpPr>
          <p:cNvPr id="3" name="TextBox 2">
            <a:extLst>
              <a:ext uri="{FF2B5EF4-FFF2-40B4-BE49-F238E27FC236}">
                <a16:creationId xmlns:a16="http://schemas.microsoft.com/office/drawing/2014/main" id="{872085CD-6C69-4588-9FB4-BB087FA07CA8}"/>
              </a:ext>
            </a:extLst>
          </p:cNvPr>
          <p:cNvSpPr txBox="1"/>
          <p:nvPr/>
        </p:nvSpPr>
        <p:spPr>
          <a:xfrm>
            <a:off x="841169" y="1687286"/>
            <a:ext cx="9945583"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AutoNum type="arabicPeriod"/>
            </a:pPr>
            <a:r>
              <a:rPr lang="en-US" sz="2000" b="1">
                <a:solidFill>
                  <a:srgbClr val="1F1F1F"/>
                </a:solidFill>
                <a:latin typeface="Google Sans Flex"/>
                <a:ea typeface="Google Sans Flex"/>
                <a:cs typeface="Google Sans Flex"/>
              </a:rPr>
              <a:t>Rao, A. S., et al.</a:t>
            </a:r>
            <a:r>
              <a:rPr lang="en-US" sz="2000">
                <a:solidFill>
                  <a:srgbClr val="1F1F1F"/>
                </a:solidFill>
                <a:latin typeface="Google Sans Flex"/>
                <a:ea typeface="Google Sans Flex"/>
                <a:cs typeface="Google Sans Flex"/>
              </a:rPr>
              <a:t> (2017). </a:t>
            </a:r>
            <a:r>
              <a:rPr lang="en-US" sz="2000">
                <a:solidFill>
                  <a:srgbClr val="1F1F1F"/>
                </a:solidFill>
                <a:latin typeface="Arial"/>
                <a:ea typeface="Google Sans Flex"/>
                <a:cs typeface="Google Sans Flex"/>
              </a:rPr>
              <a:t>"Web-Based Control of Robotic Arm Using Raspberry Pi." </a:t>
            </a:r>
            <a:r>
              <a:rPr lang="en-US" sz="2000" i="1">
                <a:solidFill>
                  <a:srgbClr val="1F1F1F"/>
                </a:solidFill>
                <a:latin typeface="Arial"/>
                <a:ea typeface="Google Sans Flex"/>
                <a:cs typeface="Google Sans Flex"/>
              </a:rPr>
              <a:t>IEEE International Conference on Power, Control, Signals and Instrumentation Engineering.</a:t>
            </a:r>
          </a:p>
          <a:p>
            <a:pPr marL="228600" indent="-228600">
              <a:buAutoNum type="arabicPeriod"/>
            </a:pPr>
            <a:endParaRPr lang="en-US" sz="2000" i="1">
              <a:solidFill>
                <a:srgbClr val="1F1F1F"/>
              </a:solidFill>
              <a:latin typeface="Arial"/>
              <a:ea typeface="Google Sans Flex"/>
              <a:cs typeface="Google Sans Flex"/>
            </a:endParaRPr>
          </a:p>
          <a:p>
            <a:pPr marL="228600" indent="-228600">
              <a:buFont typeface=""/>
              <a:buAutoNum type="arabicPeriod"/>
            </a:pPr>
            <a:r>
              <a:rPr lang="en-US" sz="2000" b="1">
                <a:solidFill>
                  <a:srgbClr val="1F1F1F"/>
                </a:solidFill>
                <a:latin typeface="Google Sans Flex"/>
                <a:ea typeface="Google Sans Flex"/>
                <a:cs typeface="Google Sans Flex"/>
              </a:rPr>
              <a:t>Subha, T. D., et al.</a:t>
            </a:r>
            <a:r>
              <a:rPr lang="en-US" sz="2000">
                <a:solidFill>
                  <a:srgbClr val="1F1F1F"/>
                </a:solidFill>
                <a:latin typeface="Google Sans Flex"/>
                <a:ea typeface="Google Sans Flex"/>
                <a:cs typeface="Google Sans Flex"/>
              </a:rPr>
              <a:t> (2017). </a:t>
            </a:r>
            <a:r>
              <a:rPr lang="en-US" sz="2000">
                <a:solidFill>
                  <a:srgbClr val="1F1F1F"/>
                </a:solidFill>
                <a:latin typeface="Arial"/>
                <a:ea typeface="Google Sans Flex"/>
                <a:cs typeface="Google Sans Flex"/>
              </a:rPr>
              <a:t>"Automatic Waste Segregator and Monitoring System." </a:t>
            </a:r>
            <a:r>
              <a:rPr lang="en-US" sz="2000" i="1">
                <a:solidFill>
                  <a:srgbClr val="1F1F1F"/>
                </a:solidFill>
                <a:latin typeface="Arial"/>
                <a:ea typeface="Google Sans Flex"/>
                <a:cs typeface="Google Sans Flex"/>
              </a:rPr>
              <a:t>International Research Journal of Engineering and Technology (IRJET).</a:t>
            </a:r>
          </a:p>
          <a:p>
            <a:pPr marL="228600" indent="-228600">
              <a:buAutoNum type="arabicPeriod"/>
            </a:pPr>
            <a:endParaRPr lang="en-US" sz="2000" i="1">
              <a:solidFill>
                <a:srgbClr val="1F1F1F"/>
              </a:solidFill>
              <a:latin typeface="Google Sans Flex"/>
              <a:ea typeface="Google Sans Flex"/>
              <a:cs typeface="Google Sans Flex"/>
            </a:endParaRPr>
          </a:p>
          <a:p>
            <a:pPr marL="228600" indent="-228600">
              <a:buFont typeface=""/>
              <a:buAutoNum type="arabicPeriod"/>
            </a:pPr>
            <a:r>
              <a:rPr lang="en-US" sz="2000" b="1">
                <a:solidFill>
                  <a:srgbClr val="1F1F1F"/>
                </a:solidFill>
                <a:latin typeface="Google Sans Flex"/>
                <a:ea typeface="Google Sans Flex"/>
                <a:cs typeface="Google Sans Flex"/>
              </a:rPr>
              <a:t>Levine, S., et al.</a:t>
            </a:r>
            <a:r>
              <a:rPr lang="en-US" sz="2000">
                <a:solidFill>
                  <a:srgbClr val="1F1F1F"/>
                </a:solidFill>
                <a:latin typeface="Google Sans Flex"/>
                <a:ea typeface="Google Sans Flex"/>
                <a:cs typeface="Google Sans Flex"/>
              </a:rPr>
              <a:t> (2018). </a:t>
            </a:r>
            <a:r>
              <a:rPr lang="en-US" sz="2000">
                <a:solidFill>
                  <a:srgbClr val="1F1F1F"/>
                </a:solidFill>
                <a:latin typeface="Arial"/>
                <a:ea typeface="Google Sans Flex"/>
                <a:cs typeface="Google Sans Flex"/>
              </a:rPr>
              <a:t>"Learning Hand-Eye Coordination for Robotic Grasping with Deep Learning." </a:t>
            </a:r>
            <a:r>
              <a:rPr lang="en-US" sz="2000" i="1">
                <a:solidFill>
                  <a:srgbClr val="1F1F1F"/>
                </a:solidFill>
                <a:latin typeface="Arial"/>
                <a:ea typeface="Google Sans Flex"/>
                <a:cs typeface="Google Sans Flex"/>
              </a:rPr>
              <a:t>The International Journal of Robotics Research.</a:t>
            </a:r>
          </a:p>
          <a:p>
            <a:pPr algn="ctr"/>
            <a:endParaRPr lang="en-US"/>
          </a:p>
        </p:txBody>
      </p:sp>
    </p:spTree>
    <p:extLst>
      <p:ext uri="{BB962C8B-B14F-4D97-AF65-F5344CB8AC3E}">
        <p14:creationId xmlns:p14="http://schemas.microsoft.com/office/powerpoint/2010/main" val="3553450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00D065-6ACF-80A3-63E6-619F992F7B2D}"/>
              </a:ext>
            </a:extLst>
          </p:cNvPr>
          <p:cNvSpPr txBox="1"/>
          <p:nvPr/>
        </p:nvSpPr>
        <p:spPr>
          <a:xfrm>
            <a:off x="4107210" y="2707529"/>
            <a:ext cx="377239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t>THANK YOU</a:t>
            </a:r>
          </a:p>
        </p:txBody>
      </p:sp>
    </p:spTree>
    <p:extLst>
      <p:ext uri="{BB962C8B-B14F-4D97-AF65-F5344CB8AC3E}">
        <p14:creationId xmlns:p14="http://schemas.microsoft.com/office/powerpoint/2010/main" val="1949628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67</TotalTime>
  <Words>1223</Words>
  <Application>Microsoft Office PowerPoint</Application>
  <PresentationFormat>Widescreen</PresentationFormat>
  <Paragraphs>165</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Aptos Display</vt:lpstr>
      <vt:lpstr>Arial</vt:lpstr>
      <vt:lpstr>Google Sans Flex</vt:lpstr>
      <vt:lpstr>Google Sans Text</vt:lpstr>
      <vt:lpstr>Wingdings</vt:lpstr>
      <vt:lpstr>office theme</vt:lpstr>
      <vt:lpstr> Title: Autonomous Robotic Scrap Sorting System  </vt:lpstr>
      <vt:lpstr>INTRODUCTION</vt:lpstr>
      <vt:lpstr>PROBLEM STATEMENT</vt:lpstr>
      <vt:lpstr>Objective Of The Project</vt:lpstr>
      <vt:lpstr>Mapping Objectives to the Course Scope</vt:lpstr>
      <vt:lpstr>Week wise Split-up Plan to Achieve  Objectives </vt:lpstr>
      <vt:lpstr>SYSTEM ARCHITECTURE</vt:lpstr>
      <vt:lpstr>INVERSE KINEMATICS APPROACH</vt:lpstr>
      <vt:lpstr>VISION &amp; DETECTION STRATEGY</vt:lpstr>
      <vt:lpstr>Methodology</vt:lpstr>
      <vt:lpstr>METHODOLOGY</vt:lpstr>
      <vt:lpstr>METHODOLOGY</vt:lpstr>
      <vt:lpstr>EXECUTION LOGIC</vt:lpstr>
      <vt:lpstr> HARDWARE IMPLEMENTATION</vt:lpstr>
      <vt:lpstr>Results &amp; Discussion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vishnu teja</dc:creator>
  <cp:lastModifiedBy>vishnu teja</cp:lastModifiedBy>
  <cp:revision>7</cp:revision>
  <dcterms:created xsi:type="dcterms:W3CDTF">2026-01-14T09:41:25Z</dcterms:created>
  <dcterms:modified xsi:type="dcterms:W3CDTF">2026-03-07T06:11:26Z</dcterms:modified>
</cp:coreProperties>
</file>